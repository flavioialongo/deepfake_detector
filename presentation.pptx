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1" r:id="rId10"/>
    <p:sldId id="265" r:id="rId11"/>
    <p:sldId id="268" r:id="rId12"/>
    <p:sldId id="269" r:id="rId13"/>
    <p:sldId id="267" r:id="rId14"/>
    <p:sldId id="270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8E822-035C-FE4D-4EAE-515A63439F00}" v="8" dt="2025-06-15T15:06:24.521"/>
    <p1510:client id="{2342C207-7AF8-4D9F-659E-84EEDCF3FDEC}" v="189" dt="2025-06-15T14:53:29.230"/>
    <p1510:client id="{323ADD8C-4B5A-1624-DEB0-EED9FF96FA86}" v="5" dt="2025-06-15T15:46:47.592"/>
    <p1510:client id="{717CFD5A-06EF-06AC-CA48-24C09E68F0EF}" v="756" dt="2025-06-15T16:35:58.015"/>
    <p1510:client id="{E19369E7-9266-2FA1-D356-A22A93E0912E}" v="551" dt="2025-06-15T15:42:10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FCCA9-9AD7-4650-9792-2DC319E8BB19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85480-1C36-4A69-B310-0B85FE2C1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080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bb74ad72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bb74ad72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85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196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362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178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390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480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912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7751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79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60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528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75E87C3-069E-43E7-B263-F9C06550CC71}" type="datetimeFigureOut">
              <a:rPr lang="it-IT" smtClean="0"/>
              <a:t>15/06/2025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71E937-D267-4F14-ACF7-B6B146184E71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51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70C5CB-D193-4AB7-E7BB-5D6C0C512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005" y="1419483"/>
            <a:ext cx="9847989" cy="2548624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Improving Generalization of Deepfake Detectors by Imposing Gradient Regularization</a:t>
            </a:r>
            <a:endParaRPr lang="it-IT" sz="6000" b="1" dirty="0">
              <a:solidFill>
                <a:schemeClr val="tx1">
                  <a:lumMod val="75000"/>
                  <a:lumOff val="25000"/>
                </a:schemeClr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27A4283-DDCC-2837-B117-E7440884F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19"/>
            <a:ext cx="4504336" cy="1684625"/>
          </a:xfrm>
        </p:spPr>
        <p:txBody>
          <a:bodyPr>
            <a:normAutofit fontScale="77500" lnSpcReduction="20000"/>
          </a:bodyPr>
          <a:lstStyle/>
          <a:p>
            <a:r>
              <a:rPr lang="it-IT" b="1">
                <a:solidFill>
                  <a:schemeClr val="tx1"/>
                </a:solidFill>
              </a:rPr>
              <a:t>Group </a:t>
            </a:r>
            <a:r>
              <a:rPr lang="it-IT" b="1" err="1">
                <a:solidFill>
                  <a:schemeClr val="tx1"/>
                </a:solidFill>
              </a:rPr>
              <a:t>Members</a:t>
            </a:r>
            <a:r>
              <a:rPr lang="it-IT">
                <a:solidFill>
                  <a:schemeClr val="tx1"/>
                </a:solidFill>
              </a:rPr>
              <a:t>:</a:t>
            </a:r>
          </a:p>
          <a:p>
            <a:r>
              <a:rPr lang="it-IT">
                <a:solidFill>
                  <a:schemeClr val="tx1"/>
                </a:solidFill>
              </a:rPr>
              <a:t>Francesco Barbetta – </a:t>
            </a:r>
            <a:r>
              <a:rPr lang="it-IT" i="1">
                <a:solidFill>
                  <a:schemeClr val="tx1"/>
                </a:solidFill>
              </a:rPr>
              <a:t>1991907</a:t>
            </a:r>
            <a:endParaRPr lang="it-IT">
              <a:solidFill>
                <a:schemeClr val="tx1"/>
              </a:solidFill>
            </a:endParaRPr>
          </a:p>
          <a:p>
            <a:r>
              <a:rPr lang="it-IT">
                <a:solidFill>
                  <a:schemeClr val="tx1"/>
                </a:solidFill>
              </a:rPr>
              <a:t>Marco Antonio Iossa – </a:t>
            </a:r>
            <a:r>
              <a:rPr lang="it-IT" i="1">
                <a:solidFill>
                  <a:schemeClr val="tx1"/>
                </a:solidFill>
              </a:rPr>
              <a:t>2001300</a:t>
            </a:r>
            <a:endParaRPr lang="it-IT">
              <a:solidFill>
                <a:schemeClr val="tx1"/>
              </a:solidFill>
            </a:endParaRPr>
          </a:p>
          <a:p>
            <a:r>
              <a:rPr lang="it-IT">
                <a:solidFill>
                  <a:schemeClr val="tx1"/>
                </a:solidFill>
              </a:rPr>
              <a:t>Flavio Ialongo – </a:t>
            </a:r>
            <a:r>
              <a:rPr lang="it-IT" i="1">
                <a:solidFill>
                  <a:schemeClr val="tx1"/>
                </a:solidFill>
              </a:rPr>
              <a:t>2000932</a:t>
            </a:r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44CB71-E967-40D6-FAF7-0FF35350577D}"/>
              </a:ext>
            </a:extLst>
          </p:cNvPr>
          <p:cNvSpPr txBox="1"/>
          <p:nvPr/>
        </p:nvSpPr>
        <p:spPr>
          <a:xfrm>
            <a:off x="7452619" y="5457831"/>
            <a:ext cx="3720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000" b="1" dirty="0">
                <a:latin typeface="Calibri Light"/>
                <a:ea typeface="Calibri Light"/>
                <a:cs typeface="Calibri Light"/>
              </a:rPr>
              <a:t>Computer Vision – A.A. 2024/2025</a:t>
            </a:r>
          </a:p>
        </p:txBody>
      </p:sp>
    </p:spTree>
    <p:extLst>
      <p:ext uri="{BB962C8B-B14F-4D97-AF65-F5344CB8AC3E}">
        <p14:creationId xmlns:p14="http://schemas.microsoft.com/office/powerpoint/2010/main" val="63912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192E62-EF4F-EFC7-6ED6-C828974783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5497" y="442172"/>
            <a:ext cx="10058400" cy="1038225"/>
          </a:xfrm>
        </p:spPr>
        <p:txBody>
          <a:bodyPr/>
          <a:lstStyle/>
          <a:p>
            <a:pPr algn="ctr"/>
            <a:r>
              <a:rPr lang="it-IT" b="1" dirty="0" err="1"/>
              <a:t>Outline</a:t>
            </a:r>
            <a:endParaRPr lang="it-IT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98F69D-0D36-3196-7DF4-39E63B0E7B7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064196" y="1745219"/>
            <a:ext cx="4563485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Introduction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to the Deepfake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Problem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Related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Works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Proposed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</a:t>
            </a:r>
            <a:r>
              <a:rPr lang="it-IT" altLang="it-IT" dirty="0">
                <a:solidFill>
                  <a:schemeClr val="tx1"/>
                </a:solidFill>
                <a:latin typeface="Arial"/>
                <a:cs typeface="Arial"/>
              </a:rPr>
              <a:t>Methods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Experimental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Setup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Evaluation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Metrics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and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Results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Conclusions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and Future Work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354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References</a:t>
            </a:r>
            <a:endParaRPr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163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4156E2A-B19C-10FD-60B8-4763DDC47234}"/>
              </a:ext>
            </a:extLst>
          </p:cNvPr>
          <p:cNvSpPr txBox="1"/>
          <p:nvPr/>
        </p:nvSpPr>
        <p:spPr>
          <a:xfrm>
            <a:off x="1798320" y="325120"/>
            <a:ext cx="8524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What</a:t>
            </a:r>
            <a:r>
              <a:rPr lang="it-IT" sz="4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 are </a:t>
            </a:r>
            <a:r>
              <a:rPr lang="it-IT" sz="48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Deepfakes</a:t>
            </a:r>
            <a:r>
              <a:rPr lang="it-IT" sz="4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4" name="Immagine 3" descr="Immagine che contiene Viso umano, uomo, collage, schermata&#10;&#10;Il contenuto generato dall'IA potrebbe non essere corretto.">
            <a:extLst>
              <a:ext uri="{FF2B5EF4-FFF2-40B4-BE49-F238E27FC236}">
                <a16:creationId xmlns:a16="http://schemas.microsoft.com/office/drawing/2014/main" id="{733C0023-93CF-F768-32A8-9D237FDF7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1264920"/>
            <a:ext cx="5783580" cy="3429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2ACBD1-412D-14BB-0249-3A002B4C9D9D}"/>
              </a:ext>
            </a:extLst>
          </p:cNvPr>
          <p:cNvSpPr txBox="1"/>
          <p:nvPr/>
        </p:nvSpPr>
        <p:spPr>
          <a:xfrm>
            <a:off x="894080" y="4945146"/>
            <a:ext cx="1033272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Deepfakes are synthetic media generated by AI models (e.g., GANs), capable of producing realistic faces and expressions. 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These videos are often indistinguishable from real ones to the human eye.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443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8"/>
          <p:cNvGrpSpPr/>
          <p:nvPr/>
        </p:nvGrpSpPr>
        <p:grpSpPr>
          <a:xfrm>
            <a:off x="-2691650" y="972991"/>
            <a:ext cx="5349200" cy="5349200"/>
            <a:chOff x="-2017827" y="829751"/>
            <a:chExt cx="4011900" cy="4011900"/>
          </a:xfrm>
        </p:grpSpPr>
        <p:sp>
          <p:nvSpPr>
            <p:cNvPr id="98" name="Google Shape;98;p18"/>
            <p:cNvSpPr/>
            <p:nvPr/>
          </p:nvSpPr>
          <p:spPr>
            <a:xfrm flipH="1">
              <a:off x="-2017827" y="829751"/>
              <a:ext cx="4011900" cy="4011900"/>
            </a:xfrm>
            <a:prstGeom prst="pie">
              <a:avLst>
                <a:gd name="adj1" fmla="val 5404577"/>
                <a:gd name="adj2" fmla="val 1620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1848275" y="2141376"/>
              <a:ext cx="71100" cy="7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1758775" y="3676176"/>
              <a:ext cx="71100" cy="7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01" name="Google Shape;101;p18"/>
          <p:cNvSpPr/>
          <p:nvPr/>
        </p:nvSpPr>
        <p:spPr>
          <a:xfrm>
            <a:off x="1278369" y="1241089"/>
            <a:ext cx="1140400" cy="1140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2023936" y="2949572"/>
            <a:ext cx="1140400" cy="114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1278369" y="4658023"/>
            <a:ext cx="1140400" cy="114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title" idx="4294967295"/>
          </p:nvPr>
        </p:nvSpPr>
        <p:spPr>
          <a:xfrm>
            <a:off x="389017" y="92550"/>
            <a:ext cx="10985500" cy="747713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it-IT" b="1" dirty="0" err="1"/>
              <a:t>Why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 </a:t>
            </a:r>
            <a:r>
              <a:rPr lang="it-IT" b="1" dirty="0" err="1"/>
              <a:t>important</a:t>
            </a:r>
            <a:r>
              <a:rPr lang="it-IT" b="1" dirty="0"/>
              <a:t>?</a:t>
            </a:r>
            <a:endParaRPr lang="it-IT" dirty="0"/>
          </a:p>
        </p:txBody>
      </p:sp>
      <p:cxnSp>
        <p:nvCxnSpPr>
          <p:cNvPr id="106" name="Google Shape;106;p18"/>
          <p:cNvCxnSpPr/>
          <p:nvPr/>
        </p:nvCxnSpPr>
        <p:spPr>
          <a:xfrm rot="10800000" flipH="1">
            <a:off x="2418769" y="1808889"/>
            <a:ext cx="2151600" cy="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/>
          <p:nvPr/>
        </p:nvSpPr>
        <p:spPr>
          <a:xfrm>
            <a:off x="4570367" y="1544617"/>
            <a:ext cx="26228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it-IT" sz="2400" b="1" err="1"/>
              <a:t>Disinformation</a:t>
            </a:r>
            <a:endParaRPr sz="2133" b="1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570367" y="1941684"/>
            <a:ext cx="5176800" cy="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/>
              <a:t>Fake videos spread misinformation, manipulate public opinion, and undermine democracy.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09" name="Google Shape;109;p18"/>
          <p:cNvCxnSpPr>
            <a:stCxn id="102" idx="6"/>
            <a:endCxn id="110" idx="1"/>
          </p:cNvCxnSpPr>
          <p:nvPr/>
        </p:nvCxnSpPr>
        <p:spPr>
          <a:xfrm rot="10800000" flipH="1">
            <a:off x="3164336" y="3519372"/>
            <a:ext cx="2151600" cy="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Google Shape;110;p18"/>
          <p:cNvSpPr txBox="1"/>
          <p:nvPr/>
        </p:nvSpPr>
        <p:spPr>
          <a:xfrm>
            <a:off x="5315933" y="3255151"/>
            <a:ext cx="26228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it-IT" sz="2400" b="1" dirty="0" err="1"/>
              <a:t>Defamation</a:t>
            </a:r>
            <a:endParaRPr sz="2133" b="1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5315933" y="3652217"/>
            <a:ext cx="5176800" cy="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/>
              <a:t>Famous people can be falsely shown in compromising contexts, damaging their image.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2" name="Google Shape;112;p18"/>
          <p:cNvCxnSpPr>
            <a:stCxn id="103" idx="6"/>
            <a:endCxn id="113" idx="1"/>
          </p:cNvCxnSpPr>
          <p:nvPr/>
        </p:nvCxnSpPr>
        <p:spPr>
          <a:xfrm>
            <a:off x="2418769" y="5228223"/>
            <a:ext cx="2151600" cy="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113;p18"/>
          <p:cNvSpPr txBox="1"/>
          <p:nvPr/>
        </p:nvSpPr>
        <p:spPr>
          <a:xfrm>
            <a:off x="4570367" y="4965684"/>
            <a:ext cx="26228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2400" b="1" dirty="0">
                <a:sym typeface="Montserrat SemiBold"/>
              </a:rPr>
              <a:t>Trust</a:t>
            </a:r>
            <a:endParaRPr sz="2400" b="1" dirty="0">
              <a:sym typeface="Montserrat SemiBold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570367" y="5362751"/>
            <a:ext cx="5176800" cy="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/>
              <a:t>Reliable detectors protect media integrity and public confidence in digital content.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BFDA99-6D21-213C-FA12-FA378133AA68}"/>
              </a:ext>
            </a:extLst>
          </p:cNvPr>
          <p:cNvSpPr txBox="1"/>
          <p:nvPr/>
        </p:nvSpPr>
        <p:spPr>
          <a:xfrm>
            <a:off x="1463993" y="1476569"/>
            <a:ext cx="707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📰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064D80-C140-077D-471E-D6CF0F9114F4}"/>
              </a:ext>
            </a:extLst>
          </p:cNvPr>
          <p:cNvSpPr txBox="1"/>
          <p:nvPr/>
        </p:nvSpPr>
        <p:spPr>
          <a:xfrm>
            <a:off x="2056923" y="3116797"/>
            <a:ext cx="907259" cy="844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/>
              <a:t>🎭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12CCBFB-443C-B271-6544-E52FDDAC8F02}"/>
              </a:ext>
            </a:extLst>
          </p:cNvPr>
          <p:cNvSpPr txBox="1"/>
          <p:nvPr/>
        </p:nvSpPr>
        <p:spPr>
          <a:xfrm>
            <a:off x="1492388" y="4932352"/>
            <a:ext cx="6508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1BB100F-6F68-8281-4872-23F1C72FF8D3}"/>
              </a:ext>
            </a:extLst>
          </p:cNvPr>
          <p:cNvSpPr txBox="1"/>
          <p:nvPr/>
        </p:nvSpPr>
        <p:spPr>
          <a:xfrm>
            <a:off x="1437411" y="526907"/>
            <a:ext cx="909483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800" b="1" dirty="0" err="1">
                <a:solidFill>
                  <a:srgbClr val="404040"/>
                </a:solidFill>
                <a:latin typeface="+mj-lt"/>
              </a:rPr>
              <a:t>Related</a:t>
            </a:r>
            <a:r>
              <a:rPr lang="it-IT" sz="4800" b="1" dirty="0">
                <a:solidFill>
                  <a:srgbClr val="404040"/>
                </a:solidFill>
                <a:latin typeface="+mj-lt"/>
              </a:rPr>
              <a:t> Works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D249E43-88DD-5B84-5522-2383D8923BB3}"/>
              </a:ext>
            </a:extLst>
          </p:cNvPr>
          <p:cNvSpPr txBox="1"/>
          <p:nvPr/>
        </p:nvSpPr>
        <p:spPr>
          <a:xfrm>
            <a:off x="689742" y="1715201"/>
            <a:ext cx="11110452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 dirty="0"/>
              <a:t>CNN-</a:t>
            </a:r>
            <a:r>
              <a:rPr lang="it-IT" b="1" dirty="0" err="1"/>
              <a:t>based</a:t>
            </a:r>
            <a:r>
              <a:rPr lang="it-IT" b="1" dirty="0"/>
              <a:t> Deepfake </a:t>
            </a:r>
            <a:r>
              <a:rPr lang="it-IT" b="1" dirty="0" err="1"/>
              <a:t>Detection</a:t>
            </a:r>
            <a:endParaRPr lang="it-IT" b="1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Use </a:t>
            </a:r>
            <a:r>
              <a:rPr lang="it-IT" dirty="0" err="1"/>
              <a:t>convolutional</a:t>
            </a:r>
            <a:r>
              <a:rPr lang="it-IT" dirty="0"/>
              <a:t> </a:t>
            </a:r>
            <a:r>
              <a:rPr lang="it-IT" dirty="0" err="1"/>
              <a:t>architectures</a:t>
            </a:r>
            <a:r>
              <a:rPr lang="it-IT" dirty="0"/>
              <a:t> </a:t>
            </a:r>
            <a:r>
              <a:rPr lang="it-IT" dirty="0" err="1"/>
              <a:t>trained</a:t>
            </a:r>
            <a:r>
              <a:rPr lang="it-IT" dirty="0"/>
              <a:t> on visual features (e.g., </a:t>
            </a:r>
            <a:r>
              <a:rPr lang="it-IT" dirty="0" err="1"/>
              <a:t>EfficientNet</a:t>
            </a:r>
            <a:r>
              <a:rPr lang="it-IT" dirty="0"/>
              <a:t>) [2, 3]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Performance drops under </a:t>
            </a:r>
            <a:r>
              <a:rPr lang="it-IT" dirty="0" err="1"/>
              <a:t>perturbations</a:t>
            </a:r>
            <a:endParaRPr lang="it-IT" dirty="0">
              <a:ea typeface="Calibri" panose="020F0502020204030204"/>
              <a:cs typeface="Calibri" panose="020F0502020204030204"/>
            </a:endParaRPr>
          </a:p>
          <a:p>
            <a:endParaRPr lang="it-IT" dirty="0"/>
          </a:p>
          <a:p>
            <a:r>
              <a:rPr lang="it-IT" b="1" dirty="0">
                <a:ea typeface="Calibri" panose="020F0502020204030204"/>
                <a:cs typeface="Calibri" panose="020F0502020204030204"/>
              </a:rPr>
              <a:t>Attack Techniques:</a:t>
            </a:r>
            <a:endParaRPr lang="it-IT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Methods to </a:t>
            </a:r>
            <a:r>
              <a:rPr lang="it-IT" dirty="0" err="1">
                <a:ea typeface="+mn-lt"/>
                <a:cs typeface="+mn-lt"/>
              </a:rPr>
              <a:t>subtly</a:t>
            </a:r>
            <a:r>
              <a:rPr lang="it-IT" dirty="0">
                <a:ea typeface="+mn-lt"/>
                <a:cs typeface="+mn-lt"/>
              </a:rPr>
              <a:t> alter images and </a:t>
            </a:r>
            <a:r>
              <a:rPr lang="it-IT" dirty="0" err="1">
                <a:ea typeface="+mn-lt"/>
                <a:cs typeface="+mn-lt"/>
              </a:rPr>
              <a:t>fool</a:t>
            </a:r>
            <a:r>
              <a:rPr lang="it-IT" dirty="0">
                <a:ea typeface="+mn-lt"/>
                <a:cs typeface="+mn-lt"/>
              </a:rPr>
              <a:t> the model</a:t>
            </a:r>
            <a:r>
              <a:rPr lang="it-IT" dirty="0">
                <a:ea typeface="Calibri"/>
                <a:cs typeface="Calibri"/>
              </a:rPr>
              <a:t> [5, 6, 7]</a:t>
            </a:r>
          </a:p>
          <a:p>
            <a:endParaRPr lang="it-IT" dirty="0"/>
          </a:p>
          <a:p>
            <a:r>
              <a:rPr lang="it-IT" b="1" dirty="0" err="1"/>
              <a:t>Robustness</a:t>
            </a:r>
            <a:r>
              <a:rPr lang="it-IT" b="1" dirty="0"/>
              <a:t> Techniques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Adversarial</a:t>
            </a:r>
            <a:r>
              <a:rPr lang="it-IT" dirty="0"/>
              <a:t> Training: [6]</a:t>
            </a:r>
            <a:endParaRPr lang="it-IT" dirty="0">
              <a:ea typeface="Calibri"/>
              <a:cs typeface="Calibri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: </a:t>
            </a:r>
            <a:r>
              <a:rPr lang="it-IT" dirty="0" err="1"/>
              <a:t>enhances</a:t>
            </a:r>
            <a:r>
              <a:rPr lang="it-IT" dirty="0"/>
              <a:t> </a:t>
            </a:r>
            <a:r>
              <a:rPr lang="it-IT" dirty="0" err="1"/>
              <a:t>generalization</a:t>
            </a:r>
            <a:r>
              <a:rPr lang="it-IT" dirty="0"/>
              <a:t> and </a:t>
            </a:r>
            <a:r>
              <a:rPr lang="it-IT" dirty="0" err="1"/>
              <a:t>smoothness</a:t>
            </a:r>
            <a:r>
              <a:rPr lang="it-IT" dirty="0"/>
              <a:t> [1]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Evaluation </a:t>
            </a:r>
            <a:r>
              <a:rPr lang="it-IT" dirty="0" err="1"/>
              <a:t>protocols</a:t>
            </a:r>
            <a:r>
              <a:rPr lang="it-IT" dirty="0"/>
              <a:t> highlight </a:t>
            </a:r>
            <a:r>
              <a:rPr lang="it-IT" dirty="0" err="1"/>
              <a:t>robustness</a:t>
            </a:r>
            <a:r>
              <a:rPr lang="it-IT" dirty="0"/>
              <a:t> under </a:t>
            </a:r>
            <a:r>
              <a:rPr lang="it-IT" dirty="0" err="1"/>
              <a:t>attack</a:t>
            </a:r>
            <a:r>
              <a:rPr lang="it-IT" dirty="0"/>
              <a:t> [4]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140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FBF174-BE25-C046-4200-ADEF1ADD9CDC}"/>
              </a:ext>
            </a:extLst>
          </p:cNvPr>
          <p:cNvSpPr txBox="1"/>
          <p:nvPr/>
        </p:nvSpPr>
        <p:spPr>
          <a:xfrm>
            <a:off x="3330137" y="520432"/>
            <a:ext cx="533915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 b="1" dirty="0" err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Proposed</a:t>
            </a:r>
            <a:r>
              <a:rPr lang="it-IT" sz="4800" b="1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 Methods 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FCE9F5-C73F-2BBD-69E0-93C26734F252}"/>
              </a:ext>
            </a:extLst>
          </p:cNvPr>
          <p:cNvSpPr txBox="1"/>
          <p:nvPr/>
        </p:nvSpPr>
        <p:spPr>
          <a:xfrm>
            <a:off x="1050636" y="1812636"/>
            <a:ext cx="10068499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+mn-lt"/>
                <a:cs typeface="+mn-lt"/>
              </a:rPr>
              <a:t>In </a:t>
            </a:r>
            <a:r>
              <a:rPr lang="it-IT" dirty="0" err="1">
                <a:ea typeface="+mn-lt"/>
                <a:cs typeface="+mn-lt"/>
              </a:rPr>
              <a:t>order</a:t>
            </a:r>
            <a:r>
              <a:rPr lang="it-IT" dirty="0">
                <a:ea typeface="+mn-lt"/>
                <a:cs typeface="+mn-lt"/>
              </a:rPr>
              <a:t> to </a:t>
            </a:r>
            <a:r>
              <a:rPr lang="it-IT" dirty="0" err="1">
                <a:ea typeface="+mn-lt"/>
                <a:cs typeface="+mn-lt"/>
              </a:rPr>
              <a:t>improve</a:t>
            </a:r>
            <a:r>
              <a:rPr lang="it-IT" dirty="0">
                <a:ea typeface="+mn-lt"/>
                <a:cs typeface="+mn-lt"/>
              </a:rPr>
              <a:t> the </a:t>
            </a:r>
            <a:r>
              <a:rPr lang="it-IT" dirty="0" err="1">
                <a:ea typeface="+mn-lt"/>
                <a:cs typeface="+mn-lt"/>
              </a:rPr>
              <a:t>robustness</a:t>
            </a:r>
            <a:r>
              <a:rPr lang="it-IT" dirty="0">
                <a:ea typeface="+mn-lt"/>
                <a:cs typeface="+mn-lt"/>
              </a:rPr>
              <a:t> and </a:t>
            </a:r>
            <a:r>
              <a:rPr lang="it-IT" dirty="0" err="1">
                <a:ea typeface="+mn-lt"/>
                <a:cs typeface="+mn-lt"/>
              </a:rPr>
              <a:t>generalization</a:t>
            </a:r>
            <a:r>
              <a:rPr lang="it-IT" dirty="0">
                <a:ea typeface="+mn-lt"/>
                <a:cs typeface="+mn-lt"/>
              </a:rPr>
              <a:t> of </a:t>
            </a:r>
            <a:r>
              <a:rPr lang="it-IT" dirty="0" err="1">
                <a:ea typeface="+mn-lt"/>
                <a:cs typeface="+mn-lt"/>
              </a:rPr>
              <a:t>our</a:t>
            </a:r>
            <a:r>
              <a:rPr lang="it-IT" dirty="0">
                <a:ea typeface="+mn-lt"/>
                <a:cs typeface="+mn-lt"/>
              </a:rPr>
              <a:t> detector, </a:t>
            </a:r>
            <a:r>
              <a:rPr lang="it-IT" dirty="0" err="1">
                <a:ea typeface="+mn-lt"/>
                <a:cs typeface="+mn-lt"/>
              </a:rPr>
              <a:t>we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employ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two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complementary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regularization</a:t>
            </a:r>
            <a:r>
              <a:rPr lang="it-IT" dirty="0">
                <a:ea typeface="+mn-lt"/>
                <a:cs typeface="+mn-lt"/>
              </a:rPr>
              <a:t> techniques:</a:t>
            </a:r>
            <a:endParaRPr lang="it-IT" dirty="0"/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 </a:t>
            </a:r>
            <a:r>
              <a:rPr lang="it-IT" b="1" dirty="0" err="1">
                <a:ea typeface="+mn-lt"/>
                <a:cs typeface="+mn-lt"/>
              </a:rPr>
              <a:t>Perturbation</a:t>
            </a:r>
            <a:r>
              <a:rPr lang="it-IT" b="1" dirty="0">
                <a:ea typeface="+mn-lt"/>
                <a:cs typeface="+mn-lt"/>
              </a:rPr>
              <a:t> Injection Module (PIM)</a:t>
            </a:r>
            <a:br>
              <a:rPr lang="it-IT" b="1" dirty="0">
                <a:ea typeface="+mn-lt"/>
                <a:cs typeface="+mn-lt"/>
              </a:rPr>
            </a:br>
            <a:r>
              <a:rPr lang="it-IT" dirty="0">
                <a:ea typeface="+mn-lt"/>
                <a:cs typeface="+mn-lt"/>
              </a:rPr>
              <a:t>  </a:t>
            </a:r>
            <a:r>
              <a:rPr lang="it-IT" dirty="0">
                <a:solidFill>
                  <a:schemeClr val="accent1"/>
                </a:solidFill>
                <a:ea typeface="+mn-lt"/>
                <a:cs typeface="+mn-lt"/>
              </a:rPr>
              <a:t>–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Simulates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distribution</a:t>
            </a:r>
            <a:r>
              <a:rPr lang="it-IT" dirty="0">
                <a:ea typeface="+mn-lt"/>
                <a:cs typeface="+mn-lt"/>
              </a:rPr>
              <a:t> shifts by </a:t>
            </a:r>
            <a:r>
              <a:rPr lang="it-IT" dirty="0" err="1">
                <a:ea typeface="+mn-lt"/>
                <a:cs typeface="+mn-lt"/>
              </a:rPr>
              <a:t>perturbing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shallow</a:t>
            </a:r>
            <a:r>
              <a:rPr lang="it-IT" dirty="0">
                <a:ea typeface="+mn-lt"/>
                <a:cs typeface="+mn-lt"/>
              </a:rPr>
              <a:t> feature </a:t>
            </a:r>
            <a:r>
              <a:rPr lang="it-IT" dirty="0" err="1">
                <a:ea typeface="+mn-lt"/>
                <a:cs typeface="+mn-lt"/>
              </a:rPr>
              <a:t>statistics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through</a:t>
            </a:r>
            <a:r>
              <a:rPr lang="it-IT" dirty="0">
                <a:ea typeface="+mn-lt"/>
                <a:cs typeface="+mn-lt"/>
              </a:rPr>
              <a:t> a </a:t>
            </a:r>
            <a:r>
              <a:rPr lang="it-IT" dirty="0" err="1">
                <a:ea typeface="+mn-lt"/>
                <a:cs typeface="+mn-lt"/>
              </a:rPr>
              <a:t>regularization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term</a:t>
            </a:r>
            <a:r>
              <a:rPr lang="it-IT" dirty="0">
                <a:ea typeface="+mn-lt"/>
                <a:cs typeface="+mn-lt"/>
              </a:rPr>
              <a:t>                    </a:t>
            </a:r>
            <a:r>
              <a:rPr lang="it-IT" dirty="0" err="1">
                <a:ea typeface="+mn-lt"/>
                <a:cs typeface="+mn-lt"/>
              </a:rPr>
              <a:t>added</a:t>
            </a:r>
            <a:r>
              <a:rPr lang="it-IT" dirty="0">
                <a:ea typeface="+mn-lt"/>
                <a:cs typeface="+mn-lt"/>
              </a:rPr>
              <a:t> to the </a:t>
            </a:r>
            <a:r>
              <a:rPr lang="it-IT" dirty="0" err="1">
                <a:ea typeface="+mn-lt"/>
                <a:cs typeface="+mn-lt"/>
              </a:rPr>
              <a:t>loss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function</a:t>
            </a:r>
            <a:r>
              <a:rPr lang="it-IT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it-IT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it-IT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it-IT" b="1" dirty="0">
              <a:ea typeface="+mn-lt"/>
              <a:cs typeface="+mn-lt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 </a:t>
            </a:r>
            <a:r>
              <a:rPr lang="it-IT" b="1" dirty="0" err="1">
                <a:ea typeface="+mn-lt"/>
                <a:cs typeface="+mn-lt"/>
              </a:rPr>
              <a:t>Adversarial</a:t>
            </a:r>
            <a:r>
              <a:rPr lang="it-IT" b="1" dirty="0">
                <a:ea typeface="+mn-lt"/>
                <a:cs typeface="+mn-lt"/>
              </a:rPr>
              <a:t> Training</a:t>
            </a:r>
            <a:br>
              <a:rPr lang="it-IT" b="1" dirty="0">
                <a:ea typeface="+mn-lt"/>
                <a:cs typeface="+mn-lt"/>
              </a:rPr>
            </a:br>
            <a:r>
              <a:rPr lang="it-IT" b="1" dirty="0">
                <a:ea typeface="+mn-lt"/>
                <a:cs typeface="+mn-lt"/>
              </a:rPr>
              <a:t>  </a:t>
            </a:r>
            <a:r>
              <a:rPr lang="it-IT" dirty="0">
                <a:solidFill>
                  <a:schemeClr val="accent1"/>
                </a:solidFill>
                <a:ea typeface="+mn-lt"/>
                <a:cs typeface="+mn-lt"/>
              </a:rPr>
              <a:t>–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Improves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resistance</a:t>
            </a:r>
            <a:r>
              <a:rPr lang="it-IT" dirty="0">
                <a:ea typeface="+mn-lt"/>
                <a:cs typeface="+mn-lt"/>
              </a:rPr>
              <a:t> to input </a:t>
            </a:r>
            <a:r>
              <a:rPr lang="it-IT" dirty="0" err="1">
                <a:ea typeface="+mn-lt"/>
                <a:cs typeface="+mn-lt"/>
              </a:rPr>
              <a:t>perturbations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using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adversarial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examples</a:t>
            </a:r>
            <a:r>
              <a:rPr lang="it-IT" dirty="0">
                <a:ea typeface="+mn-lt"/>
                <a:cs typeface="+mn-lt"/>
              </a:rPr>
              <a:t> in the training step</a:t>
            </a:r>
            <a:endParaRPr lang="it-IT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it-IT" dirty="0">
              <a:ea typeface="+mn-lt"/>
              <a:cs typeface="+mn-lt"/>
            </a:endParaRPr>
          </a:p>
          <a:p>
            <a:endParaRPr lang="it-IT" b="1" dirty="0">
              <a:ea typeface="+mn-lt"/>
              <a:cs typeface="+mn-lt"/>
            </a:endParaRP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 err="1">
                <a:ea typeface="+mn-lt"/>
                <a:cs typeface="+mn-lt"/>
              </a:rPr>
              <a:t>These</a:t>
            </a:r>
            <a:r>
              <a:rPr lang="it-IT" dirty="0">
                <a:ea typeface="+mn-lt"/>
                <a:cs typeface="+mn-lt"/>
              </a:rPr>
              <a:t> strategies are </a:t>
            </a:r>
            <a:r>
              <a:rPr lang="it-IT" dirty="0" err="1">
                <a:ea typeface="+mn-lt"/>
                <a:cs typeface="+mn-lt"/>
              </a:rPr>
              <a:t>tested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independently</a:t>
            </a:r>
            <a:r>
              <a:rPr lang="it-IT" dirty="0">
                <a:ea typeface="+mn-lt"/>
                <a:cs typeface="+mn-lt"/>
              </a:rPr>
              <a:t> and in </a:t>
            </a:r>
            <a:r>
              <a:rPr lang="it-IT" dirty="0" err="1">
                <a:ea typeface="+mn-lt"/>
                <a:cs typeface="+mn-lt"/>
              </a:rPr>
              <a:t>combination</a:t>
            </a:r>
            <a:r>
              <a:rPr lang="it-IT" dirty="0">
                <a:ea typeface="+mn-lt"/>
                <a:cs typeface="+mn-lt"/>
              </a:rPr>
              <a:t>.</a:t>
            </a:r>
            <a:endParaRPr lang="it-IT" dirty="0">
              <a:ea typeface="Calibri"/>
              <a:cs typeface="Calibri"/>
            </a:endParaRPr>
          </a:p>
          <a:p>
            <a:pPr algn="l"/>
            <a:endParaRPr lang="it-IT" dirty="0">
              <a:ea typeface="Calibri"/>
              <a:cs typeface="Calibri"/>
            </a:endParaRPr>
          </a:p>
        </p:txBody>
      </p:sp>
      <p:pic>
        <p:nvPicPr>
          <p:cNvPr id="9" name="Immagine 8" descr="Immagine che contiene Carattere, testo, line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9E84F953-4DB4-8D35-D151-25E4E7B5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124" y="3361876"/>
            <a:ext cx="5899751" cy="579948"/>
          </a:xfrm>
          <a:prstGeom prst="rect">
            <a:avLst/>
          </a:prstGeom>
        </p:spPr>
      </p:pic>
      <p:pic>
        <p:nvPicPr>
          <p:cNvPr id="11" name="Immagine 10" descr="Immagine che contiene Carattere, testo, tipografia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F04C8C6F-80B3-40DB-A4CE-7B132B06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86" y="4727724"/>
            <a:ext cx="5900828" cy="57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5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44584B2-D524-3F0D-5969-5F80E5DC7BDB}"/>
              </a:ext>
            </a:extLst>
          </p:cNvPr>
          <p:cNvSpPr txBox="1"/>
          <p:nvPr/>
        </p:nvSpPr>
        <p:spPr>
          <a:xfrm>
            <a:off x="3422875" y="317627"/>
            <a:ext cx="534922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 b="1" dirty="0" err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Proposed</a:t>
            </a:r>
            <a:r>
              <a:rPr lang="it-IT" sz="4800" b="1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 Methods 2</a:t>
            </a:r>
            <a:endParaRPr lang="it-IT" dirty="0"/>
          </a:p>
          <a:p>
            <a:endParaRPr lang="it-IT" sz="4800" b="1" dirty="0">
              <a:solidFill>
                <a:srgbClr val="40404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4" name="Immagine 3" descr="Immagine che contiene testo, schermata, Viso umano&#10;&#10;Il contenuto generato dall&amp;#39;IA potrebbe non essere corretto.">
            <a:extLst>
              <a:ext uri="{FF2B5EF4-FFF2-40B4-BE49-F238E27FC236}">
                <a16:creationId xmlns:a16="http://schemas.microsoft.com/office/drawing/2014/main" id="{05DA6143-494E-2E18-462E-A8DAD882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90" y="1185913"/>
            <a:ext cx="9259018" cy="47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0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BE80E0A-BBBA-C8E0-329E-296F08F5ABE3}"/>
              </a:ext>
            </a:extLst>
          </p:cNvPr>
          <p:cNvSpPr txBox="1"/>
          <p:nvPr/>
        </p:nvSpPr>
        <p:spPr>
          <a:xfrm>
            <a:off x="1026574" y="1712072"/>
            <a:ext cx="1013690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+mn-lt"/>
                <a:cs typeface="+mn-lt"/>
              </a:rPr>
              <a:t>To </a:t>
            </a:r>
            <a:r>
              <a:rPr lang="it-IT" dirty="0" err="1">
                <a:ea typeface="+mn-lt"/>
                <a:cs typeface="+mn-lt"/>
              </a:rPr>
              <a:t>evaluate</a:t>
            </a:r>
            <a:r>
              <a:rPr lang="it-IT" dirty="0">
                <a:ea typeface="+mn-lt"/>
                <a:cs typeface="+mn-lt"/>
              </a:rPr>
              <a:t> model </a:t>
            </a:r>
            <a:r>
              <a:rPr lang="it-IT" dirty="0" err="1">
                <a:ea typeface="+mn-lt"/>
                <a:cs typeface="+mn-lt"/>
              </a:rPr>
              <a:t>robustness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we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tested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all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configurations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against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four</a:t>
            </a:r>
            <a:r>
              <a:rPr lang="it-IT" dirty="0">
                <a:ea typeface="+mn-lt"/>
                <a:cs typeface="+mn-lt"/>
              </a:rPr>
              <a:t> white-box </a:t>
            </a:r>
            <a:r>
              <a:rPr lang="it-IT" dirty="0" err="1">
                <a:ea typeface="+mn-lt"/>
                <a:cs typeface="+mn-lt"/>
              </a:rPr>
              <a:t>adversarial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attacks</a:t>
            </a:r>
            <a:r>
              <a:rPr lang="it-IT" dirty="0">
                <a:ea typeface="+mn-lt"/>
                <a:cs typeface="+mn-lt"/>
              </a:rPr>
              <a:t>:</a:t>
            </a:r>
            <a:endParaRPr lang="it-IT" dirty="0"/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b="1" dirty="0">
                <a:ea typeface="+mn-lt"/>
                <a:cs typeface="+mn-lt"/>
              </a:rPr>
              <a:t>FGSM (Fast </a:t>
            </a:r>
            <a:r>
              <a:rPr lang="it-IT" b="1" dirty="0" err="1">
                <a:ea typeface="+mn-lt"/>
                <a:cs typeface="+mn-lt"/>
              </a:rPr>
              <a:t>Gradient</a:t>
            </a:r>
            <a:r>
              <a:rPr lang="it-IT" b="1" dirty="0">
                <a:ea typeface="+mn-lt"/>
                <a:cs typeface="+mn-lt"/>
              </a:rPr>
              <a:t> </a:t>
            </a:r>
            <a:r>
              <a:rPr lang="it-IT" b="1" dirty="0" err="1">
                <a:ea typeface="+mn-lt"/>
                <a:cs typeface="+mn-lt"/>
              </a:rPr>
              <a:t>Sign</a:t>
            </a:r>
            <a:r>
              <a:rPr lang="it-IT" b="1" dirty="0">
                <a:ea typeface="+mn-lt"/>
                <a:cs typeface="+mn-lt"/>
              </a:rPr>
              <a:t> Method)</a:t>
            </a:r>
            <a:br>
              <a:rPr lang="it-IT" b="1" dirty="0">
                <a:ea typeface="+mn-lt"/>
                <a:cs typeface="+mn-lt"/>
              </a:rPr>
            </a:b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Adds</a:t>
            </a:r>
            <a:r>
              <a:rPr lang="it-IT" dirty="0">
                <a:ea typeface="+mn-lt"/>
                <a:cs typeface="+mn-lt"/>
              </a:rPr>
              <a:t> a single-step </a:t>
            </a:r>
            <a:r>
              <a:rPr lang="it-IT" dirty="0" err="1">
                <a:ea typeface="+mn-lt"/>
                <a:cs typeface="+mn-lt"/>
              </a:rPr>
              <a:t>perturbation</a:t>
            </a:r>
            <a:r>
              <a:rPr lang="it-IT" dirty="0">
                <a:ea typeface="+mn-lt"/>
                <a:cs typeface="+mn-lt"/>
              </a:rPr>
              <a:t> in the </a:t>
            </a:r>
            <a:r>
              <a:rPr lang="it-IT" dirty="0" err="1">
                <a:ea typeface="+mn-lt"/>
                <a:cs typeface="+mn-lt"/>
              </a:rPr>
              <a:t>direction</a:t>
            </a:r>
            <a:r>
              <a:rPr lang="it-IT" dirty="0">
                <a:ea typeface="+mn-lt"/>
                <a:cs typeface="+mn-lt"/>
              </a:rPr>
              <a:t> of the </a:t>
            </a:r>
            <a:r>
              <a:rPr lang="it-IT" dirty="0" err="1">
                <a:ea typeface="+mn-lt"/>
                <a:cs typeface="+mn-lt"/>
              </a:rPr>
              <a:t>gradient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sign</a:t>
            </a:r>
            <a:r>
              <a:rPr lang="it-IT" dirty="0">
                <a:ea typeface="+mn-lt"/>
                <a:cs typeface="+mn-lt"/>
              </a:rPr>
              <a:t>.</a:t>
            </a:r>
            <a:endParaRPr lang="it-IT" dirty="0"/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b="1" dirty="0">
                <a:ea typeface="+mn-lt"/>
                <a:cs typeface="+mn-lt"/>
              </a:rPr>
              <a:t>I-FGSM (Iterative FGSM)</a:t>
            </a:r>
            <a:br>
              <a:rPr lang="it-IT" b="1" dirty="0">
                <a:ea typeface="+mn-lt"/>
                <a:cs typeface="+mn-lt"/>
              </a:rPr>
            </a:br>
            <a:r>
              <a:rPr lang="it-IT" b="1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Applies</a:t>
            </a:r>
            <a:r>
              <a:rPr lang="it-IT" dirty="0">
                <a:ea typeface="+mn-lt"/>
                <a:cs typeface="+mn-lt"/>
              </a:rPr>
              <a:t> FGSM multiple times with small steps and clipping </a:t>
            </a:r>
            <a:r>
              <a:rPr lang="it-IT" dirty="0" err="1">
                <a:ea typeface="+mn-lt"/>
                <a:cs typeface="+mn-lt"/>
              </a:rPr>
              <a:t>at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each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iteration</a:t>
            </a:r>
            <a:r>
              <a:rPr lang="it-IT" dirty="0">
                <a:ea typeface="+mn-lt"/>
                <a:cs typeface="+mn-lt"/>
              </a:rPr>
              <a:t>.</a:t>
            </a:r>
            <a:endParaRPr lang="it-IT" dirty="0"/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b="1" dirty="0" err="1">
                <a:ea typeface="+mn-lt"/>
                <a:cs typeface="+mn-lt"/>
              </a:rPr>
              <a:t>DeepFool</a:t>
            </a:r>
            <a:br>
              <a:rPr lang="it-IT" b="1" dirty="0">
                <a:ea typeface="+mn-lt"/>
                <a:cs typeface="+mn-lt"/>
              </a:rPr>
            </a:br>
            <a:r>
              <a:rPr lang="it-IT" b="1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Optimization-based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attack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that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computes</a:t>
            </a:r>
            <a:r>
              <a:rPr lang="it-IT" dirty="0">
                <a:ea typeface="+mn-lt"/>
                <a:cs typeface="+mn-lt"/>
              </a:rPr>
              <a:t> the minimal </a:t>
            </a:r>
            <a:r>
              <a:rPr lang="it-IT" dirty="0" err="1">
                <a:ea typeface="+mn-lt"/>
                <a:cs typeface="+mn-lt"/>
              </a:rPr>
              <a:t>perturbation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required</a:t>
            </a:r>
            <a:r>
              <a:rPr lang="it-IT" dirty="0">
                <a:ea typeface="+mn-lt"/>
                <a:cs typeface="+mn-lt"/>
              </a:rPr>
              <a:t> to </a:t>
            </a:r>
            <a:r>
              <a:rPr lang="it-IT" dirty="0" err="1">
                <a:ea typeface="+mn-lt"/>
                <a:cs typeface="+mn-lt"/>
              </a:rPr>
              <a:t>change</a:t>
            </a:r>
            <a:r>
              <a:rPr lang="it-IT" dirty="0">
                <a:ea typeface="+mn-lt"/>
                <a:cs typeface="+mn-lt"/>
              </a:rPr>
              <a:t> the </a:t>
            </a:r>
            <a:r>
              <a:rPr lang="it-IT" dirty="0" err="1">
                <a:ea typeface="+mn-lt"/>
                <a:cs typeface="+mn-lt"/>
              </a:rPr>
              <a:t>model’s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prediction</a:t>
            </a:r>
            <a:r>
              <a:rPr lang="it-IT" dirty="0">
                <a:ea typeface="+mn-lt"/>
                <a:cs typeface="+mn-lt"/>
              </a:rPr>
              <a:t>.</a:t>
            </a: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b="1" dirty="0">
                <a:ea typeface="+mn-lt"/>
                <a:cs typeface="+mn-lt"/>
              </a:rPr>
              <a:t>PGD (</a:t>
            </a:r>
            <a:r>
              <a:rPr lang="it-IT" b="1" dirty="0" err="1">
                <a:ea typeface="+mn-lt"/>
                <a:cs typeface="+mn-lt"/>
              </a:rPr>
              <a:t>Projected</a:t>
            </a:r>
            <a:r>
              <a:rPr lang="it-IT" b="1" dirty="0">
                <a:ea typeface="+mn-lt"/>
                <a:cs typeface="+mn-lt"/>
              </a:rPr>
              <a:t> </a:t>
            </a:r>
            <a:r>
              <a:rPr lang="it-IT" b="1" dirty="0" err="1">
                <a:ea typeface="+mn-lt"/>
                <a:cs typeface="+mn-lt"/>
              </a:rPr>
              <a:t>Gradient</a:t>
            </a:r>
            <a:r>
              <a:rPr lang="it-IT" b="1" dirty="0">
                <a:ea typeface="+mn-lt"/>
                <a:cs typeface="+mn-lt"/>
              </a:rPr>
              <a:t> </a:t>
            </a:r>
            <a:r>
              <a:rPr lang="it-IT" b="1" dirty="0" err="1">
                <a:ea typeface="+mn-lt"/>
                <a:cs typeface="+mn-lt"/>
              </a:rPr>
              <a:t>Descent</a:t>
            </a:r>
            <a:r>
              <a:rPr lang="it-IT" b="1" dirty="0">
                <a:ea typeface="+mn-lt"/>
                <a:cs typeface="+mn-lt"/>
              </a:rPr>
              <a:t>)</a:t>
            </a:r>
            <a:br>
              <a:rPr lang="it-IT" b="1" dirty="0">
                <a:ea typeface="+mn-lt"/>
                <a:cs typeface="+mn-lt"/>
              </a:rPr>
            </a:br>
            <a:r>
              <a:rPr lang="it-IT" b="1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Strongest</a:t>
            </a:r>
            <a:r>
              <a:rPr lang="it-IT" dirty="0">
                <a:ea typeface="+mn-lt"/>
                <a:cs typeface="+mn-lt"/>
              </a:rPr>
              <a:t> first-</a:t>
            </a:r>
            <a:r>
              <a:rPr lang="it-IT" dirty="0" err="1">
                <a:ea typeface="+mn-lt"/>
                <a:cs typeface="+mn-lt"/>
              </a:rPr>
              <a:t>order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adversary</a:t>
            </a:r>
            <a:r>
              <a:rPr lang="it-IT" dirty="0">
                <a:ea typeface="+mn-lt"/>
                <a:cs typeface="+mn-lt"/>
              </a:rPr>
              <a:t>; </a:t>
            </a:r>
            <a:r>
              <a:rPr lang="it-IT" dirty="0" err="1">
                <a:ea typeface="+mn-lt"/>
                <a:cs typeface="+mn-lt"/>
              </a:rPr>
              <a:t>iteratively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adds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perturbations</a:t>
            </a:r>
            <a:r>
              <a:rPr lang="it-IT" dirty="0">
                <a:ea typeface="+mn-lt"/>
                <a:cs typeface="+mn-lt"/>
              </a:rPr>
              <a:t> and projects </a:t>
            </a:r>
            <a:r>
              <a:rPr lang="it-IT" dirty="0" err="1">
                <a:ea typeface="+mn-lt"/>
                <a:cs typeface="+mn-lt"/>
              </a:rPr>
              <a:t>into</a:t>
            </a:r>
            <a:r>
              <a:rPr lang="it-IT" dirty="0">
                <a:ea typeface="+mn-lt"/>
                <a:cs typeface="+mn-lt"/>
              </a:rPr>
              <a:t> an ϵ-</a:t>
            </a:r>
            <a:r>
              <a:rPr lang="it-IT" dirty="0" err="1">
                <a:ea typeface="+mn-lt"/>
                <a:cs typeface="+mn-lt"/>
              </a:rPr>
              <a:t>ball</a:t>
            </a:r>
            <a:r>
              <a:rPr lang="it-IT" dirty="0">
                <a:ea typeface="+mn-lt"/>
                <a:cs typeface="+mn-lt"/>
              </a:rPr>
              <a:t>.</a:t>
            </a:r>
            <a:endParaRPr lang="it-IT" dirty="0"/>
          </a:p>
          <a:p>
            <a:pPr marL="285750" indent="-285750">
              <a:buFont typeface="Arial"/>
              <a:buChar char="•"/>
            </a:pPr>
            <a:endParaRPr lang="it-IT" dirty="0"/>
          </a:p>
          <a:p>
            <a:endParaRPr lang="it-IT" dirty="0"/>
          </a:p>
          <a:p>
            <a:pPr algn="l"/>
            <a:endParaRPr lang="it-IT" dirty="0">
              <a:ea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48FD859-ABDC-621F-D9A9-A90CEA5D653B}"/>
              </a:ext>
            </a:extLst>
          </p:cNvPr>
          <p:cNvSpPr txBox="1"/>
          <p:nvPr/>
        </p:nvSpPr>
        <p:spPr>
          <a:xfrm>
            <a:off x="1511269" y="696576"/>
            <a:ext cx="916838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800" b="1" err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Adversarial</a:t>
            </a:r>
            <a:r>
              <a:rPr lang="it-IT" sz="4800" b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 Attacks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173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85CE4DE-66FF-B79A-1BC4-4EB4F9741AE0}"/>
              </a:ext>
            </a:extLst>
          </p:cNvPr>
          <p:cNvSpPr txBox="1"/>
          <p:nvPr/>
        </p:nvSpPr>
        <p:spPr>
          <a:xfrm>
            <a:off x="2006830" y="378683"/>
            <a:ext cx="81718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4800" b="1">
                <a:solidFill>
                  <a:srgbClr val="404040"/>
                </a:solidFill>
                <a:latin typeface="+mj-lt"/>
              </a:rPr>
              <a:t>DFFD: Diverse Fake Face Dataset</a:t>
            </a:r>
            <a:endParaRPr lang="it-IT" sz="4800" b="1">
              <a:solidFill>
                <a:srgbClr val="404040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383BB05-70FF-36AC-435C-FB9AC677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889" y="1452747"/>
            <a:ext cx="4152434" cy="366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5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26D938-8785-4EB5-9C81-B5C1D3DDAA3C}"/>
              </a:ext>
            </a:extLst>
          </p:cNvPr>
          <p:cNvSpPr txBox="1"/>
          <p:nvPr/>
        </p:nvSpPr>
        <p:spPr>
          <a:xfrm>
            <a:off x="1373994" y="68723"/>
            <a:ext cx="98251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800" b="1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Evaluation </a:t>
            </a:r>
            <a:r>
              <a:rPr lang="it-IT" sz="4800" b="1" dirty="0" err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Metrics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EAB0989C-F537-C0F4-DEC8-36A2615FB12E}"/>
                  </a:ext>
                </a:extLst>
              </p:cNvPr>
              <p:cNvSpPr txBox="1"/>
              <p:nvPr/>
            </p:nvSpPr>
            <p:spPr>
              <a:xfrm>
                <a:off x="743172" y="1026677"/>
                <a:ext cx="10286999" cy="537070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Clr>
                    <a:schemeClr val="accent1"/>
                  </a:buClr>
                  <a:buFont typeface="Arial"/>
                  <a:buChar char="•"/>
                </a:pPr>
                <a:r>
                  <a:rPr lang="it-IT" sz="1600" b="1" dirty="0">
                    <a:ea typeface="Calibri"/>
                    <a:cs typeface="Calibri"/>
                  </a:rPr>
                  <a:t>Accuracy</a:t>
                </a:r>
                <a:r>
                  <a:rPr lang="it-IT" sz="1600" dirty="0">
                    <a:ea typeface="Calibri"/>
                    <a:cs typeface="Calibri"/>
                  </a:rPr>
                  <a:t>: </a:t>
                </a:r>
                <a:r>
                  <a:rPr lang="en-US" sz="1600" dirty="0"/>
                  <a:t>Measures the proportion of correctly classified examples over the total</a:t>
                </a:r>
                <a:endParaRPr lang="it-IT" sz="1600" dirty="0"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𝑇𝑃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𝑇𝑁</m:t>
                          </m:r>
                        </m:num>
                        <m:den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𝑇𝑃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𝑇𝑁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𝐹𝑃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it-IT" sz="1600" b="0" dirty="0">
                  <a:ea typeface="Calibri"/>
                  <a:cs typeface="Calibri"/>
                </a:endParaRPr>
              </a:p>
              <a:p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/>
                  <a:buChar char="•"/>
                </a:pPr>
                <a:r>
                  <a:rPr lang="it-IT" sz="1600" b="1" dirty="0">
                    <a:ea typeface="Calibri"/>
                    <a:cs typeface="Calibri"/>
                  </a:rPr>
                  <a:t>Precision</a:t>
                </a:r>
                <a:r>
                  <a:rPr lang="it-IT" sz="1600" dirty="0">
                    <a:ea typeface="Calibri"/>
                    <a:cs typeface="Calibri"/>
                  </a:rPr>
                  <a:t>:</a:t>
                </a:r>
                <a:r>
                  <a:rPr lang="en-US" sz="1600" dirty="0"/>
                  <a:t> Indicates the fraction of predicted positives that are actually positive</a:t>
                </a:r>
                <a:endParaRPr lang="it-IT" sz="1600" dirty="0"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𝑇𝑃</m:t>
                          </m:r>
                        </m:num>
                        <m:den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𝑇𝑃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/>
                  <a:buChar char="•"/>
                </a:pPr>
                <a:r>
                  <a:rPr lang="it-IT" sz="1600" b="1" dirty="0">
                    <a:ea typeface="Calibri"/>
                    <a:cs typeface="Calibri"/>
                  </a:rPr>
                  <a:t>Recall</a:t>
                </a:r>
                <a:r>
                  <a:rPr lang="it-IT" sz="1600" dirty="0">
                    <a:ea typeface="Calibri"/>
                    <a:cs typeface="Calibri"/>
                  </a:rPr>
                  <a:t>:	 </a:t>
                </a:r>
                <a:r>
                  <a:rPr lang="en-US" sz="1600" dirty="0"/>
                  <a:t>Measures the model's ability to identify all actual positives</a:t>
                </a:r>
                <a:r>
                  <a:rPr lang="it-IT" sz="1600" dirty="0">
                    <a:ea typeface="Calibri"/>
                    <a:cs typeface="Calibri"/>
                  </a:rPr>
                  <a:t>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𝑇𝑃</m:t>
                          </m:r>
                        </m:num>
                        <m:den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𝑇𝑃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/>
                  <a:buChar char="•"/>
                </a:pPr>
                <a:r>
                  <a:rPr lang="it-IT" sz="1600" b="1" dirty="0">
                    <a:ea typeface="Calibri"/>
                    <a:cs typeface="Calibri"/>
                  </a:rPr>
                  <a:t>F1</a:t>
                </a:r>
                <a:r>
                  <a:rPr lang="it-IT" sz="1600" dirty="0">
                    <a:ea typeface="Calibri"/>
                    <a:cs typeface="Calibri"/>
                  </a:rPr>
                  <a:t>: </a:t>
                </a:r>
                <a:r>
                  <a:rPr lang="en-US" sz="1600" dirty="0"/>
                  <a:t>Harmonic mean of precision and recall			</a:t>
                </a:r>
                <a:r>
                  <a:rPr lang="it-IT" sz="1600" dirty="0">
                    <a:ea typeface="Calibri"/>
                    <a:cs typeface="Calibri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2</m:t>
                      </m:r>
                      <m:r>
                        <a:rPr lang="it-I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∙</m:t>
                      </m:r>
                      <m:f>
                        <m:fPr>
                          <m:ctrlP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𝑝𝑟𝑒𝑐𝑖𝑠𝑖𝑜𝑛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∙ 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𝑟𝑒𝑐𝑎𝑙𝑙</m:t>
                          </m:r>
                        </m:num>
                        <m:den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𝑝𝑟𝑒𝑐𝑖𝑠𝑖𝑜𝑛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it-IT" sz="1600" dirty="0">
                  <a:ea typeface="Calibri"/>
                  <a:cs typeface="Calibri"/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/>
                  <a:buChar char="•"/>
                </a:pPr>
                <a:r>
                  <a:rPr lang="it-IT" sz="1600" b="1" dirty="0">
                    <a:ea typeface="Calibri"/>
                    <a:cs typeface="Calibri"/>
                  </a:rPr>
                  <a:t>Attack </a:t>
                </a:r>
                <a:r>
                  <a:rPr lang="it-IT" sz="1600" b="1" dirty="0" err="1">
                    <a:ea typeface="Calibri"/>
                    <a:cs typeface="Calibri"/>
                  </a:rPr>
                  <a:t>Robustness</a:t>
                </a:r>
                <a:r>
                  <a:rPr lang="it-IT" sz="1600" dirty="0">
                    <a:ea typeface="Calibri"/>
                    <a:cs typeface="Calibri"/>
                  </a:rPr>
                  <a:t>: </a:t>
                </a:r>
                <a:r>
                  <a:rPr lang="it-IT" sz="1600" dirty="0" err="1"/>
                  <a:t>Measures</a:t>
                </a:r>
                <a:r>
                  <a:rPr lang="it-IT" sz="1600" dirty="0"/>
                  <a:t> the </a:t>
                </a:r>
                <a:r>
                  <a:rPr lang="it-IT" sz="1600" dirty="0" err="1"/>
                  <a:t>model’s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resistance</a:t>
                </a:r>
                <a:r>
                  <a:rPr lang="it-IT" sz="1600" dirty="0"/>
                  <a:t> to </a:t>
                </a:r>
                <a:r>
                  <a:rPr lang="it-IT" sz="1600" dirty="0" err="1"/>
                  <a:t>adversarial</a:t>
                </a:r>
                <a:r>
                  <a:rPr lang="it-IT" sz="1600" dirty="0"/>
                  <a:t> </a:t>
                </a:r>
                <a:r>
                  <a:rPr lang="it-IT" sz="1600" dirty="0" err="1"/>
                  <a:t>attacks</a:t>
                </a:r>
                <a:endParaRPr lang="it-IT" sz="1600" dirty="0">
                  <a:ea typeface="Calibri"/>
                  <a:cs typeface="Calibri"/>
                </a:endParaRPr>
              </a:p>
              <a:p>
                <a:endParaRPr lang="it-IT" sz="1600" b="0" i="0" dirty="0">
                  <a:latin typeface="Cambria Math" panose="02040503050406030204" pitchFamily="18" charset="0"/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1−</m:t>
                      </m:r>
                      <m:f>
                        <m:fPr>
                          <m:ctrlPr>
                            <a:rPr lang="it-IT" sz="1600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#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𝑓𝑙𝑖𝑝𝑝𝑒𝑑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𝑝𝑟𝑒𝑑𝑖𝑐𝑡𝑖𝑜𝑛𝑠</m:t>
                          </m:r>
                        </m:num>
                        <m:den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#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𝑡𝑜𝑡𝑎𝑙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𝑠𝑎𝑚𝑝𝑙𝑒𝑠</m:t>
                          </m:r>
                        </m:den>
                      </m:f>
                    </m:oMath>
                  </m:oMathPara>
                </a14:m>
                <a:endParaRPr lang="it-IT" dirty="0"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it-IT" dirty="0"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EAB0989C-F537-C0F4-DEC8-36A2615F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72" y="1026677"/>
                <a:ext cx="10286999" cy="5370701"/>
              </a:xfrm>
              <a:prstGeom prst="rect">
                <a:avLst/>
              </a:prstGeom>
              <a:blipFill>
                <a:blip r:embed="rId2"/>
                <a:stretch>
                  <a:fillRect l="-237" t="-3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llaDiTesto 4">
            <a:extLst>
              <a:ext uri="{FF2B5EF4-FFF2-40B4-BE49-F238E27FC236}">
                <a16:creationId xmlns:a16="http://schemas.microsoft.com/office/drawing/2014/main" id="{9312A299-BD30-058F-7761-705D32ADBA67}"/>
              </a:ext>
            </a:extLst>
          </p:cNvPr>
          <p:cNvSpPr txBox="1"/>
          <p:nvPr/>
        </p:nvSpPr>
        <p:spPr>
          <a:xfrm>
            <a:off x="7434072" y="5277146"/>
            <a:ext cx="13533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Attack success rate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E97CA9F-C9AA-FB64-4BF3-BD2FF599D257}"/>
              </a:ext>
            </a:extLst>
          </p:cNvPr>
          <p:cNvSpPr/>
          <p:nvPr/>
        </p:nvSpPr>
        <p:spPr>
          <a:xfrm>
            <a:off x="5056632" y="5321808"/>
            <a:ext cx="2057400" cy="692396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1B9B4228-3F46-2DED-46B0-EAC753FD7BB2}"/>
              </a:ext>
            </a:extLst>
          </p:cNvPr>
          <p:cNvCxnSpPr>
            <a:cxnSpLocks/>
          </p:cNvCxnSpPr>
          <p:nvPr/>
        </p:nvCxnSpPr>
        <p:spPr>
          <a:xfrm>
            <a:off x="7123176" y="5404104"/>
            <a:ext cx="353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27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C3E295C-D381-547E-68D4-FDD8C87DD22A}"/>
              </a:ext>
            </a:extLst>
          </p:cNvPr>
          <p:cNvSpPr txBox="1"/>
          <p:nvPr/>
        </p:nvSpPr>
        <p:spPr>
          <a:xfrm>
            <a:off x="3639348" y="439593"/>
            <a:ext cx="491278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 b="1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Baseline Evaluation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63651F3-8BA8-1A82-A4FA-D4ED6645243E}"/>
              </a:ext>
            </a:extLst>
          </p:cNvPr>
          <p:cNvSpPr txBox="1"/>
          <p:nvPr/>
        </p:nvSpPr>
        <p:spPr>
          <a:xfrm>
            <a:off x="1532748" y="1416341"/>
            <a:ext cx="912666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 err="1">
                <a:ea typeface="+mn-lt"/>
                <a:cs typeface="+mn-lt"/>
              </a:rPr>
              <a:t>We</a:t>
            </a:r>
            <a:r>
              <a:rPr lang="it-IT" dirty="0">
                <a:ea typeface="+mn-lt"/>
                <a:cs typeface="+mn-lt"/>
              </a:rPr>
              <a:t> first fine-</a:t>
            </a:r>
            <a:r>
              <a:rPr lang="it-IT" dirty="0" err="1">
                <a:ea typeface="+mn-lt"/>
                <a:cs typeface="+mn-lt"/>
              </a:rPr>
              <a:t>tune</a:t>
            </a:r>
            <a:r>
              <a:rPr lang="it-IT" dirty="0">
                <a:ea typeface="+mn-lt"/>
                <a:cs typeface="+mn-lt"/>
              </a:rPr>
              <a:t> the EfficientNet-B0 baseline model on </a:t>
            </a:r>
            <a:r>
              <a:rPr lang="it-IT" dirty="0" err="1">
                <a:ea typeface="+mn-lt"/>
                <a:cs typeface="+mn-lt"/>
              </a:rPr>
              <a:t>our</a:t>
            </a:r>
            <a:r>
              <a:rPr lang="it-IT" dirty="0">
                <a:ea typeface="+mn-lt"/>
                <a:cs typeface="+mn-lt"/>
              </a:rPr>
              <a:t> dataset to create a </a:t>
            </a:r>
            <a:r>
              <a:rPr lang="it-IT" dirty="0" err="1">
                <a:ea typeface="+mn-lt"/>
                <a:cs typeface="+mn-lt"/>
              </a:rPr>
              <a:t>reference</a:t>
            </a:r>
            <a:r>
              <a:rPr lang="it-IT" dirty="0">
                <a:ea typeface="+mn-lt"/>
                <a:cs typeface="+mn-lt"/>
              </a:rPr>
              <a:t> point. </a:t>
            </a:r>
          </a:p>
          <a:p>
            <a:endParaRPr lang="it-IT" dirty="0">
              <a:ea typeface="+mn-lt"/>
              <a:cs typeface="+mn-lt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The </a:t>
            </a:r>
            <a:r>
              <a:rPr lang="it-IT" dirty="0" err="1">
                <a:ea typeface="+mn-lt"/>
                <a:cs typeface="+mn-lt"/>
              </a:rPr>
              <a:t>results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demonstrate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that</a:t>
            </a:r>
            <a:r>
              <a:rPr lang="it-IT" dirty="0">
                <a:ea typeface="+mn-lt"/>
                <a:cs typeface="+mn-lt"/>
              </a:rPr>
              <a:t> the model </a:t>
            </a:r>
            <a:r>
              <a:rPr lang="it-IT" dirty="0" err="1">
                <a:ea typeface="+mn-lt"/>
                <a:cs typeface="+mn-lt"/>
              </a:rPr>
              <a:t>achieves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b="1" dirty="0">
                <a:ea typeface="+mn-lt"/>
                <a:cs typeface="+mn-lt"/>
              </a:rPr>
              <a:t>high performances on </a:t>
            </a:r>
            <a:r>
              <a:rPr lang="it-IT" b="1" dirty="0" err="1">
                <a:ea typeface="+mn-lt"/>
                <a:cs typeface="+mn-lt"/>
              </a:rPr>
              <a:t>clean</a:t>
            </a:r>
            <a:r>
              <a:rPr lang="it-IT" b="1" dirty="0">
                <a:ea typeface="+mn-lt"/>
                <a:cs typeface="+mn-lt"/>
              </a:rPr>
              <a:t> data.</a:t>
            </a:r>
            <a:endParaRPr lang="it-IT" dirty="0">
              <a:ea typeface="Calibri"/>
              <a:cs typeface="Calibri"/>
            </a:endParaRPr>
          </a:p>
        </p:txBody>
      </p:sp>
      <p:pic>
        <p:nvPicPr>
          <p:cNvPr id="6" name="Immagine 5" descr="Immagine che contiene testo, schermata, diagramma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02BF6EB8-FAB2-04D7-D05D-5E249E93A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826" y="2367295"/>
            <a:ext cx="3813449" cy="2858936"/>
          </a:xfrm>
          <a:prstGeom prst="rect">
            <a:avLst/>
          </a:prstGeom>
        </p:spPr>
      </p:pic>
      <p:pic>
        <p:nvPicPr>
          <p:cNvPr id="3" name="Immagine 2" descr="Immagine che contiene testo, Carattere, schermata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5F01323A-9709-C927-7C13-9821B1519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341" y="5225358"/>
            <a:ext cx="3000294" cy="8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11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ED4BA6D-02EC-B4CD-E278-DECABE86B273}"/>
              </a:ext>
            </a:extLst>
          </p:cNvPr>
          <p:cNvSpPr txBox="1"/>
          <p:nvPr/>
        </p:nvSpPr>
        <p:spPr>
          <a:xfrm>
            <a:off x="1189220" y="314794"/>
            <a:ext cx="1002591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 b="1" err="1">
                <a:solidFill>
                  <a:srgbClr val="404040"/>
                </a:solidFill>
                <a:latin typeface="Calibri Light"/>
              </a:rPr>
              <a:t>Adversarially</a:t>
            </a:r>
            <a:r>
              <a:rPr lang="it-IT" sz="4800" b="1">
                <a:solidFill>
                  <a:srgbClr val="404040"/>
                </a:solidFill>
                <a:latin typeface="Calibri Light"/>
              </a:rPr>
              <a:t> </a:t>
            </a:r>
            <a:r>
              <a:rPr lang="it-IT" sz="4800" b="1" err="1">
                <a:solidFill>
                  <a:srgbClr val="404040"/>
                </a:solidFill>
                <a:latin typeface="Calibri Light"/>
              </a:rPr>
              <a:t>Attacked</a:t>
            </a:r>
            <a:r>
              <a:rPr lang="it-IT" sz="4800" b="1">
                <a:solidFill>
                  <a:srgbClr val="404040"/>
                </a:solidFill>
                <a:latin typeface="Calibri Light"/>
              </a:rPr>
              <a:t> Model Evaluation</a:t>
            </a:r>
            <a:endParaRPr lang="it-IT" sz="4800" b="1">
              <a:solidFill>
                <a:srgbClr val="40404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3" name="Immagine 2" descr="Immagine che contiene testo, schermata, Rettangol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F63D6354-19C7-56C2-97E0-3CC9C438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2962187"/>
            <a:ext cx="6308361" cy="255755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846DE7-1D50-E1DE-272A-4C05E99B3119}"/>
              </a:ext>
            </a:extLst>
          </p:cNvPr>
          <p:cNvSpPr txBox="1"/>
          <p:nvPr/>
        </p:nvSpPr>
        <p:spPr>
          <a:xfrm>
            <a:off x="889416" y="1426564"/>
            <a:ext cx="10413166" cy="1540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Despite achieving high accuracy on clean data, the model’s performance </a:t>
            </a:r>
            <a:r>
              <a:rPr lang="en-US" b="1" dirty="0">
                <a:ea typeface="+mn-lt"/>
                <a:cs typeface="+mn-lt"/>
              </a:rPr>
              <a:t>drops significantly</a:t>
            </a:r>
            <a:r>
              <a:rPr lang="en-US" dirty="0">
                <a:ea typeface="+mn-lt"/>
                <a:cs typeface="+mn-lt"/>
              </a:rPr>
              <a:t> when subjected to even small perturbations, revealing its </a:t>
            </a:r>
            <a:r>
              <a:rPr lang="en-US" b="1" dirty="0">
                <a:ea typeface="+mn-lt"/>
                <a:cs typeface="+mn-lt"/>
              </a:rPr>
              <a:t>lack of robustness</a:t>
            </a:r>
            <a:r>
              <a:rPr lang="en-US" dirty="0">
                <a:ea typeface="+mn-lt"/>
                <a:cs typeface="+mn-lt"/>
              </a:rPr>
              <a:t> to adversarial inputs.</a:t>
            </a:r>
            <a:endParaRPr lang="it-IT" dirty="0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This highlights the </a:t>
            </a:r>
            <a:r>
              <a:rPr lang="en-US" b="1" dirty="0">
                <a:ea typeface="+mn-lt"/>
                <a:cs typeface="+mn-lt"/>
              </a:rPr>
              <a:t>need for targeted robustness strategies</a:t>
            </a:r>
            <a:r>
              <a:rPr lang="en-US" dirty="0">
                <a:ea typeface="+mn-lt"/>
                <a:cs typeface="+mn-lt"/>
              </a:rPr>
              <a:t> to ensure reliability in real-world scenarios.</a:t>
            </a:r>
          </a:p>
          <a:p>
            <a:pPr marL="285750" indent="-285750">
              <a:lnSpc>
                <a:spcPts val="2850"/>
              </a:lnSpc>
              <a:buFont typeface="Arial"/>
              <a:buChar char="•"/>
            </a:pPr>
            <a:endParaRPr lang="en-US" dirty="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74386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ABAD34-1753-6E81-B61F-8A0741C19209}"/>
              </a:ext>
            </a:extLst>
          </p:cNvPr>
          <p:cNvSpPr txBox="1"/>
          <p:nvPr/>
        </p:nvSpPr>
        <p:spPr>
          <a:xfrm>
            <a:off x="3038006" y="139909"/>
            <a:ext cx="570375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 b="1" err="1">
                <a:solidFill>
                  <a:srgbClr val="404040"/>
                </a:solidFill>
                <a:latin typeface="Calibri Light"/>
              </a:rPr>
              <a:t>Robustness</a:t>
            </a:r>
            <a:r>
              <a:rPr lang="it-IT" sz="4800" b="1">
                <a:solidFill>
                  <a:srgbClr val="404040"/>
                </a:solidFill>
                <a:latin typeface="Calibri Light"/>
              </a:rPr>
              <a:t> Evaluation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5FADB01-11AE-F9F4-E202-C9B57517D16C}"/>
              </a:ext>
            </a:extLst>
          </p:cNvPr>
          <p:cNvSpPr txBox="1"/>
          <p:nvPr/>
        </p:nvSpPr>
        <p:spPr>
          <a:xfrm>
            <a:off x="1176728" y="1076793"/>
            <a:ext cx="92639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/>
              <a:t>Under </a:t>
            </a:r>
            <a:r>
              <a:rPr lang="it-IT" dirty="0" err="1"/>
              <a:t>adversarial</a:t>
            </a:r>
            <a:r>
              <a:rPr lang="it-IT" dirty="0"/>
              <a:t> training, PIM </a:t>
            </a:r>
            <a:r>
              <a:rPr lang="it-IT" dirty="0" err="1"/>
              <a:t>improves</a:t>
            </a:r>
            <a:r>
              <a:rPr lang="it-IT" dirty="0"/>
              <a:t>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attacks</a:t>
            </a:r>
            <a:r>
              <a:rPr lang="it-IT" dirty="0"/>
              <a:t>.</a:t>
            </a:r>
            <a:endParaRPr lang="it-IT" dirty="0">
              <a:ea typeface="Calibri"/>
              <a:cs typeface="Calibri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endParaRPr lang="it-IT" dirty="0">
              <a:ea typeface="Calibri"/>
              <a:cs typeface="Calibri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 err="1">
                <a:ea typeface="+mn-lt"/>
                <a:cs typeface="+mn-lt"/>
              </a:rPr>
              <a:t>These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results</a:t>
            </a:r>
            <a:r>
              <a:rPr lang="it-IT" dirty="0">
                <a:ea typeface="+mn-lt"/>
                <a:cs typeface="+mn-lt"/>
              </a:rPr>
              <a:t> show </a:t>
            </a:r>
            <a:r>
              <a:rPr lang="it-IT" dirty="0" err="1">
                <a:ea typeface="+mn-lt"/>
                <a:cs typeface="+mn-lt"/>
              </a:rPr>
              <a:t>that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our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methods</a:t>
            </a:r>
            <a:r>
              <a:rPr lang="it-IT" dirty="0">
                <a:ea typeface="+mn-lt"/>
                <a:cs typeface="+mn-lt"/>
              </a:rPr>
              <a:t> make the model </a:t>
            </a:r>
            <a:r>
              <a:rPr lang="it-IT" dirty="0" err="1">
                <a:ea typeface="+mn-lt"/>
                <a:cs typeface="+mn-lt"/>
              </a:rPr>
              <a:t>much</a:t>
            </a:r>
            <a:r>
              <a:rPr lang="it-IT" dirty="0">
                <a:ea typeface="+mn-lt"/>
                <a:cs typeface="+mn-lt"/>
              </a:rPr>
              <a:t> more </a:t>
            </a:r>
            <a:r>
              <a:rPr lang="it-IT" dirty="0" err="1">
                <a:ea typeface="+mn-lt"/>
                <a:cs typeface="+mn-lt"/>
              </a:rPr>
              <a:t>resistant</a:t>
            </a:r>
            <a:r>
              <a:rPr lang="it-IT" dirty="0">
                <a:ea typeface="+mn-lt"/>
                <a:cs typeface="+mn-lt"/>
              </a:rPr>
              <a:t> to </a:t>
            </a:r>
            <a:r>
              <a:rPr lang="it-IT" dirty="0" err="1">
                <a:ea typeface="+mn-lt"/>
                <a:cs typeface="+mn-lt"/>
              </a:rPr>
              <a:t>adversarial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attacks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helping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perform</a:t>
            </a:r>
            <a:r>
              <a:rPr lang="it-IT" dirty="0">
                <a:ea typeface="+mn-lt"/>
                <a:cs typeface="+mn-lt"/>
              </a:rPr>
              <a:t> more </a:t>
            </a:r>
            <a:r>
              <a:rPr lang="it-IT" dirty="0" err="1">
                <a:ea typeface="+mn-lt"/>
                <a:cs typeface="+mn-lt"/>
              </a:rPr>
              <a:t>reliably</a:t>
            </a:r>
            <a:r>
              <a:rPr lang="it-IT" dirty="0">
                <a:ea typeface="+mn-lt"/>
                <a:cs typeface="+mn-lt"/>
              </a:rPr>
              <a:t> in </a:t>
            </a:r>
            <a:r>
              <a:rPr lang="it-IT" dirty="0" err="1">
                <a:ea typeface="+mn-lt"/>
                <a:cs typeface="+mn-lt"/>
              </a:rPr>
              <a:t>real</a:t>
            </a:r>
            <a:r>
              <a:rPr lang="it-IT" dirty="0">
                <a:ea typeface="+mn-lt"/>
                <a:cs typeface="+mn-lt"/>
              </a:rPr>
              <a:t>-world situations.</a:t>
            </a:r>
          </a:p>
        </p:txBody>
      </p:sp>
      <p:pic>
        <p:nvPicPr>
          <p:cNvPr id="2" name="Immagine 1" descr="Immagine che contiene testo, schermata, numer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5D217A77-091B-93B5-7DF3-38BA2651A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49" y="2546146"/>
            <a:ext cx="3765225" cy="3113861"/>
          </a:xfrm>
          <a:prstGeom prst="rect">
            <a:avLst/>
          </a:prstGeom>
        </p:spPr>
      </p:pic>
      <p:pic>
        <p:nvPicPr>
          <p:cNvPr id="3" name="Immagine 2" descr="Immagine che contiene testo, schermata, numer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DB4A8BF7-7F3C-5F1F-D175-E2BA3399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490" y="2546147"/>
            <a:ext cx="3765225" cy="30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20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C95A548-9F34-3719-C7D7-3993C88A9179}"/>
              </a:ext>
            </a:extLst>
          </p:cNvPr>
          <p:cNvSpPr txBox="1"/>
          <p:nvPr/>
        </p:nvSpPr>
        <p:spPr>
          <a:xfrm>
            <a:off x="2516554" y="692964"/>
            <a:ext cx="715237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 b="1" dirty="0" err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Conclusion</a:t>
            </a:r>
            <a:r>
              <a:rPr lang="it-IT" sz="4800" b="1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 and Future Work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EA5224-2085-119D-99F7-157AE0725ADC}"/>
              </a:ext>
            </a:extLst>
          </p:cNvPr>
          <p:cNvSpPr txBox="1"/>
          <p:nvPr/>
        </p:nvSpPr>
        <p:spPr>
          <a:xfrm>
            <a:off x="1845734" y="2138811"/>
            <a:ext cx="84940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 err="1">
                <a:latin typeface="Calibri"/>
                <a:ea typeface="+mn-lt"/>
                <a:cs typeface="+mn-lt"/>
              </a:rPr>
              <a:t>Our</a:t>
            </a:r>
            <a:r>
              <a:rPr lang="it-IT" dirty="0">
                <a:latin typeface="Calibri"/>
                <a:ea typeface="+mn-lt"/>
                <a:cs typeface="+mn-lt"/>
              </a:rPr>
              <a:t> </a:t>
            </a:r>
            <a:r>
              <a:rPr lang="it-IT" dirty="0" err="1">
                <a:latin typeface="Calibri"/>
                <a:ea typeface="+mn-lt"/>
                <a:cs typeface="+mn-lt"/>
              </a:rPr>
              <a:t>findings</a:t>
            </a:r>
            <a:r>
              <a:rPr lang="it-IT" dirty="0">
                <a:latin typeface="Calibri"/>
                <a:ea typeface="+mn-lt"/>
                <a:cs typeface="+mn-lt"/>
              </a:rPr>
              <a:t> highlight </a:t>
            </a:r>
            <a:r>
              <a:rPr lang="it-IT" dirty="0" err="1">
                <a:latin typeface="Calibri"/>
                <a:ea typeface="+mn-lt"/>
                <a:cs typeface="+mn-lt"/>
              </a:rPr>
              <a:t>that</a:t>
            </a:r>
            <a:r>
              <a:rPr lang="it-IT" dirty="0">
                <a:latin typeface="Calibri"/>
                <a:ea typeface="+mn-lt"/>
                <a:cs typeface="+mn-lt"/>
              </a:rPr>
              <a:t> the </a:t>
            </a:r>
            <a:r>
              <a:rPr lang="it-IT" dirty="0" err="1">
                <a:latin typeface="Calibri"/>
                <a:ea typeface="+mn-lt"/>
                <a:cs typeface="+mn-lt"/>
              </a:rPr>
              <a:t>Perturbation</a:t>
            </a:r>
            <a:r>
              <a:rPr lang="it-IT" dirty="0">
                <a:latin typeface="Calibri"/>
                <a:ea typeface="+mn-lt"/>
                <a:cs typeface="+mn-lt"/>
              </a:rPr>
              <a:t> Injection Module (PIM), </a:t>
            </a:r>
            <a:r>
              <a:rPr lang="it-IT" dirty="0" err="1">
                <a:latin typeface="Calibri"/>
                <a:ea typeface="+mn-lt"/>
                <a:cs typeface="+mn-lt"/>
              </a:rPr>
              <a:t>when</a:t>
            </a:r>
            <a:r>
              <a:rPr lang="it-IT" dirty="0">
                <a:latin typeface="Calibri"/>
                <a:ea typeface="+mn-lt"/>
                <a:cs typeface="+mn-lt"/>
              </a:rPr>
              <a:t> </a:t>
            </a:r>
            <a:r>
              <a:rPr lang="it-IT" dirty="0" err="1">
                <a:latin typeface="Calibri"/>
                <a:ea typeface="+mn-lt"/>
                <a:cs typeface="+mn-lt"/>
              </a:rPr>
              <a:t>combined</a:t>
            </a:r>
            <a:r>
              <a:rPr lang="it-IT" dirty="0">
                <a:latin typeface="Calibri"/>
                <a:ea typeface="+mn-lt"/>
                <a:cs typeface="+mn-lt"/>
              </a:rPr>
              <a:t> with </a:t>
            </a:r>
            <a:r>
              <a:rPr lang="it-IT" dirty="0" err="1">
                <a:latin typeface="Calibri"/>
                <a:ea typeface="+mn-lt"/>
                <a:cs typeface="+mn-lt"/>
              </a:rPr>
              <a:t>adversarial</a:t>
            </a:r>
            <a:r>
              <a:rPr lang="it-IT" dirty="0">
                <a:latin typeface="Calibri"/>
                <a:ea typeface="+mn-lt"/>
                <a:cs typeface="+mn-lt"/>
              </a:rPr>
              <a:t> training, </a:t>
            </a:r>
            <a:r>
              <a:rPr lang="it-IT" dirty="0" err="1">
                <a:latin typeface="Calibri"/>
                <a:ea typeface="+mn-lt"/>
                <a:cs typeface="+mn-lt"/>
              </a:rPr>
              <a:t>significantly</a:t>
            </a:r>
            <a:r>
              <a:rPr lang="it-IT" dirty="0">
                <a:latin typeface="Calibri"/>
                <a:ea typeface="+mn-lt"/>
                <a:cs typeface="+mn-lt"/>
              </a:rPr>
              <a:t> </a:t>
            </a:r>
            <a:r>
              <a:rPr lang="it-IT" dirty="0" err="1">
                <a:latin typeface="Calibri"/>
                <a:ea typeface="+mn-lt"/>
                <a:cs typeface="+mn-lt"/>
              </a:rPr>
              <a:t>improves</a:t>
            </a:r>
            <a:r>
              <a:rPr lang="it-IT" dirty="0">
                <a:latin typeface="Calibri"/>
                <a:ea typeface="+mn-lt"/>
                <a:cs typeface="+mn-lt"/>
              </a:rPr>
              <a:t> the </a:t>
            </a:r>
            <a:r>
              <a:rPr lang="it-IT" dirty="0" err="1">
                <a:latin typeface="Calibri"/>
                <a:ea typeface="+mn-lt"/>
                <a:cs typeface="+mn-lt"/>
              </a:rPr>
              <a:t>robustness</a:t>
            </a:r>
            <a:r>
              <a:rPr lang="it-IT" dirty="0">
                <a:latin typeface="Calibri"/>
                <a:ea typeface="+mn-lt"/>
                <a:cs typeface="+mn-lt"/>
              </a:rPr>
              <a:t> of deepfake </a:t>
            </a:r>
            <a:r>
              <a:rPr lang="it-IT" dirty="0" err="1">
                <a:latin typeface="Calibri"/>
                <a:ea typeface="+mn-lt"/>
                <a:cs typeface="+mn-lt"/>
              </a:rPr>
              <a:t>detection</a:t>
            </a:r>
            <a:r>
              <a:rPr lang="it-IT" dirty="0">
                <a:latin typeface="Calibri"/>
                <a:ea typeface="+mn-lt"/>
                <a:cs typeface="+mn-lt"/>
              </a:rPr>
              <a:t> </a:t>
            </a:r>
            <a:r>
              <a:rPr lang="it-IT" dirty="0" err="1">
                <a:latin typeface="Calibri"/>
                <a:ea typeface="+mn-lt"/>
                <a:cs typeface="+mn-lt"/>
              </a:rPr>
              <a:t>against</a:t>
            </a:r>
            <a:r>
              <a:rPr lang="it-IT" dirty="0">
                <a:latin typeface="Calibri"/>
                <a:ea typeface="+mn-lt"/>
                <a:cs typeface="+mn-lt"/>
              </a:rPr>
              <a:t> a wide range of </a:t>
            </a:r>
            <a:r>
              <a:rPr lang="it-IT" dirty="0" err="1">
                <a:latin typeface="Calibri"/>
                <a:ea typeface="+mn-lt"/>
                <a:cs typeface="+mn-lt"/>
              </a:rPr>
              <a:t>adversarial</a:t>
            </a:r>
            <a:r>
              <a:rPr lang="it-IT" dirty="0">
                <a:latin typeface="Calibri"/>
                <a:ea typeface="+mn-lt"/>
                <a:cs typeface="+mn-lt"/>
              </a:rPr>
              <a:t> </a:t>
            </a:r>
            <a:r>
              <a:rPr lang="it-IT" dirty="0" err="1">
                <a:latin typeface="Calibri"/>
                <a:ea typeface="+mn-lt"/>
                <a:cs typeface="+mn-lt"/>
              </a:rPr>
              <a:t>attacks</a:t>
            </a:r>
            <a:r>
              <a:rPr lang="it-IT" dirty="0">
                <a:latin typeface="Calibri"/>
                <a:ea typeface="+mn-lt"/>
                <a:cs typeface="+mn-lt"/>
              </a:rPr>
              <a:t>.</a:t>
            </a:r>
            <a:endParaRPr lang="it-IT" dirty="0"/>
          </a:p>
          <a:p>
            <a:endParaRPr lang="it-IT" dirty="0">
              <a:ea typeface="+mn-lt"/>
              <a:cs typeface="+mn-lt"/>
            </a:endParaRPr>
          </a:p>
          <a:p>
            <a:pPr marL="285750" indent="-285750">
              <a:buClr>
                <a:schemeClr val="accent1"/>
              </a:buClr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Future </a:t>
            </a:r>
            <a:r>
              <a:rPr lang="it-IT" dirty="0" err="1">
                <a:ea typeface="+mn-lt"/>
                <a:cs typeface="+mn-lt"/>
              </a:rPr>
              <a:t>research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could</a:t>
            </a:r>
            <a:r>
              <a:rPr lang="it-IT" dirty="0">
                <a:ea typeface="+mn-lt"/>
                <a:cs typeface="+mn-lt"/>
              </a:rPr>
              <a:t> focus on </a:t>
            </a:r>
            <a:r>
              <a:rPr lang="it-IT" dirty="0" err="1">
                <a:ea typeface="+mn-lt"/>
                <a:cs typeface="+mn-lt"/>
              </a:rPr>
              <a:t>extending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our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evaluation</a:t>
            </a:r>
            <a:r>
              <a:rPr lang="it-IT" dirty="0">
                <a:ea typeface="+mn-lt"/>
                <a:cs typeface="+mn-lt"/>
              </a:rPr>
              <a:t> to </a:t>
            </a:r>
            <a:r>
              <a:rPr lang="it-IT" dirty="0" err="1">
                <a:ea typeface="+mn-lt"/>
                <a:cs typeface="+mn-lt"/>
              </a:rPr>
              <a:t>enclude</a:t>
            </a:r>
            <a:r>
              <a:rPr lang="it-IT" dirty="0">
                <a:ea typeface="+mn-lt"/>
                <a:cs typeface="+mn-lt"/>
              </a:rPr>
              <a:t> a </a:t>
            </a:r>
            <a:r>
              <a:rPr lang="it-IT" dirty="0" err="1">
                <a:ea typeface="+mn-lt"/>
                <a:cs typeface="+mn-lt"/>
              </a:rPr>
              <a:t>wider</a:t>
            </a:r>
            <a:r>
              <a:rPr lang="it-IT" dirty="0">
                <a:ea typeface="+mn-lt"/>
                <a:cs typeface="+mn-lt"/>
              </a:rPr>
              <a:t> range of deepfake generation techniques and more </a:t>
            </a:r>
            <a:r>
              <a:rPr lang="it-IT" dirty="0" err="1">
                <a:ea typeface="+mn-lt"/>
                <a:cs typeface="+mn-lt"/>
              </a:rPr>
              <a:t>challenging</a:t>
            </a:r>
            <a:r>
              <a:rPr lang="it-IT" dirty="0">
                <a:ea typeface="+mn-lt"/>
                <a:cs typeface="+mn-lt"/>
              </a:rPr>
              <a:t> datasets. </a:t>
            </a:r>
            <a:r>
              <a:rPr lang="it-IT" dirty="0" err="1">
                <a:ea typeface="+mn-lt"/>
                <a:cs typeface="+mn-lt"/>
              </a:rPr>
              <a:t>It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would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also</a:t>
            </a:r>
            <a:r>
              <a:rPr lang="it-IT" dirty="0">
                <a:ea typeface="+mn-lt"/>
                <a:cs typeface="+mn-lt"/>
              </a:rPr>
              <a:t> be </a:t>
            </a:r>
            <a:r>
              <a:rPr lang="it-IT" dirty="0" err="1">
                <a:ea typeface="+mn-lt"/>
                <a:cs typeface="+mn-lt"/>
              </a:rPr>
              <a:t>valuable</a:t>
            </a:r>
            <a:r>
              <a:rPr lang="it-IT" dirty="0">
                <a:ea typeface="+mn-lt"/>
                <a:cs typeface="+mn-lt"/>
              </a:rPr>
              <a:t> to investigate </a:t>
            </a:r>
            <a:r>
              <a:rPr lang="it-IT" dirty="0" err="1">
                <a:ea typeface="+mn-lt"/>
                <a:cs typeface="+mn-lt"/>
              </a:rPr>
              <a:t>whether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combining</a:t>
            </a:r>
            <a:r>
              <a:rPr lang="it-IT" dirty="0">
                <a:ea typeface="+mn-lt"/>
                <a:cs typeface="+mn-lt"/>
              </a:rPr>
              <a:t> PIM and </a:t>
            </a:r>
            <a:r>
              <a:rPr lang="it-IT" dirty="0" err="1">
                <a:ea typeface="+mn-lt"/>
                <a:cs typeface="+mn-lt"/>
              </a:rPr>
              <a:t>adversarial</a:t>
            </a:r>
            <a:r>
              <a:rPr lang="it-IT" dirty="0">
                <a:ea typeface="+mn-lt"/>
                <a:cs typeface="+mn-lt"/>
              </a:rPr>
              <a:t> training with </a:t>
            </a:r>
            <a:r>
              <a:rPr lang="it-IT" dirty="0" err="1">
                <a:ea typeface="+mn-lt"/>
                <a:cs typeface="+mn-lt"/>
              </a:rPr>
              <a:t>other</a:t>
            </a:r>
            <a:r>
              <a:rPr lang="it-IT" dirty="0">
                <a:ea typeface="+mn-lt"/>
                <a:cs typeface="+mn-lt"/>
              </a:rPr>
              <a:t> defense strategies can </a:t>
            </a:r>
            <a:r>
              <a:rPr lang="it-IT" dirty="0" err="1">
                <a:ea typeface="+mn-lt"/>
                <a:cs typeface="+mn-lt"/>
              </a:rPr>
              <a:t>further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enhance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robustness</a:t>
            </a:r>
            <a:r>
              <a:rPr lang="it-IT" dirty="0">
                <a:ea typeface="+mn-lt"/>
                <a:cs typeface="+mn-lt"/>
              </a:rPr>
              <a:t> and </a:t>
            </a:r>
            <a:r>
              <a:rPr lang="it-IT" dirty="0" err="1">
                <a:ea typeface="+mn-lt"/>
                <a:cs typeface="+mn-lt"/>
              </a:rPr>
              <a:t>generalization</a:t>
            </a:r>
            <a:r>
              <a:rPr lang="it-IT" dirty="0">
                <a:ea typeface="+mn-lt"/>
                <a:cs typeface="+mn-lt"/>
              </a:rPr>
              <a:t>. </a:t>
            </a:r>
            <a:endParaRPr lang="it-IT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it-IT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261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67B95F-CD85-BCC9-1D55-C458B0E74A2E}"/>
              </a:ext>
            </a:extLst>
          </p:cNvPr>
          <p:cNvSpPr txBox="1"/>
          <p:nvPr/>
        </p:nvSpPr>
        <p:spPr>
          <a:xfrm>
            <a:off x="1152143" y="147259"/>
            <a:ext cx="1019556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ctr"/>
            <a:r>
              <a:rPr lang="it-IT" sz="4800" b="1" dirty="0" err="1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Bibliography</a:t>
            </a:r>
            <a:endParaRPr lang="it-IT" sz="4800" b="1" dirty="0">
              <a:solidFill>
                <a:srgbClr val="40404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16AF44F-03E5-3FAC-DA5F-133CB1102C9C}"/>
              </a:ext>
            </a:extLst>
          </p:cNvPr>
          <p:cNvSpPr txBox="1"/>
          <p:nvPr/>
        </p:nvSpPr>
        <p:spPr>
          <a:xfrm>
            <a:off x="1082876" y="1214232"/>
            <a:ext cx="1039090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latin typeface="Calibri"/>
                <a:ea typeface="+mn-lt"/>
                <a:cs typeface="+mn-lt"/>
              </a:rPr>
              <a:t>[1] Guan, S., Li, Z., Zhou, Y., &amp; </a:t>
            </a:r>
            <a:r>
              <a:rPr lang="it-IT" sz="1600" err="1">
                <a:latin typeface="Calibri"/>
                <a:ea typeface="+mn-lt"/>
                <a:cs typeface="+mn-lt"/>
              </a:rPr>
              <a:t>Liu</a:t>
            </a:r>
            <a:r>
              <a:rPr lang="it-IT" sz="1600">
                <a:latin typeface="Calibri"/>
                <a:ea typeface="+mn-lt"/>
                <a:cs typeface="+mn-lt"/>
              </a:rPr>
              <a:t>, X. (2024). </a:t>
            </a:r>
            <a:r>
              <a:rPr lang="it-IT" sz="1600" i="1" err="1">
                <a:latin typeface="Calibri"/>
                <a:ea typeface="+mn-lt"/>
                <a:cs typeface="+mn-lt"/>
              </a:rPr>
              <a:t>Improving</a:t>
            </a:r>
            <a:r>
              <a:rPr lang="it-IT" sz="1600" i="1">
                <a:latin typeface="Calibri"/>
                <a:ea typeface="+mn-lt"/>
                <a:cs typeface="+mn-lt"/>
              </a:rPr>
              <a:t> </a:t>
            </a:r>
            <a:r>
              <a:rPr lang="it-IT" sz="1600" i="1" err="1">
                <a:latin typeface="Calibri"/>
                <a:ea typeface="+mn-lt"/>
                <a:cs typeface="+mn-lt"/>
              </a:rPr>
              <a:t>Generalization</a:t>
            </a:r>
            <a:r>
              <a:rPr lang="it-IT" sz="1600" i="1">
                <a:latin typeface="Calibri"/>
                <a:ea typeface="+mn-lt"/>
                <a:cs typeface="+mn-lt"/>
              </a:rPr>
              <a:t> of Deepfake Detectors by </a:t>
            </a:r>
            <a:r>
              <a:rPr lang="it-IT" sz="1600" i="1" err="1">
                <a:latin typeface="Calibri"/>
                <a:ea typeface="+mn-lt"/>
                <a:cs typeface="+mn-lt"/>
              </a:rPr>
              <a:t>Imposing</a:t>
            </a:r>
            <a:r>
              <a:rPr lang="it-IT" sz="1600" i="1">
                <a:latin typeface="Calibri"/>
                <a:ea typeface="+mn-lt"/>
                <a:cs typeface="+mn-lt"/>
              </a:rPr>
              <a:t> </a:t>
            </a:r>
            <a:r>
              <a:rPr lang="it-IT" sz="1600" i="1" err="1">
                <a:latin typeface="Calibri"/>
                <a:ea typeface="+mn-lt"/>
                <a:cs typeface="+mn-lt"/>
              </a:rPr>
              <a:t>Gradient</a:t>
            </a:r>
            <a:r>
              <a:rPr lang="it-IT" sz="1600" i="1">
                <a:latin typeface="Calibri"/>
                <a:ea typeface="+mn-lt"/>
                <a:cs typeface="+mn-lt"/>
              </a:rPr>
              <a:t> </a:t>
            </a:r>
            <a:r>
              <a:rPr lang="it-IT" sz="1600" i="1" err="1">
                <a:latin typeface="Calibri"/>
                <a:ea typeface="+mn-lt"/>
                <a:cs typeface="+mn-lt"/>
              </a:rPr>
              <a:t>Regularization</a:t>
            </a:r>
            <a:r>
              <a:rPr lang="it-IT" sz="1600">
                <a:latin typeface="Calibri"/>
                <a:ea typeface="+mn-lt"/>
                <a:cs typeface="+mn-lt"/>
              </a:rPr>
              <a:t>. IEEE </a:t>
            </a:r>
            <a:r>
              <a:rPr lang="it-IT" sz="1600" err="1">
                <a:latin typeface="Calibri"/>
                <a:ea typeface="+mn-lt"/>
                <a:cs typeface="+mn-lt"/>
              </a:rPr>
              <a:t>Transactions</a:t>
            </a:r>
            <a:r>
              <a:rPr lang="it-IT" sz="1600">
                <a:latin typeface="Calibri"/>
                <a:ea typeface="+mn-lt"/>
                <a:cs typeface="+mn-lt"/>
              </a:rPr>
              <a:t> on Information </a:t>
            </a:r>
            <a:r>
              <a:rPr lang="it-IT" sz="1600" err="1">
                <a:latin typeface="Calibri"/>
                <a:ea typeface="+mn-lt"/>
                <a:cs typeface="+mn-lt"/>
              </a:rPr>
              <a:t>Forensics</a:t>
            </a:r>
            <a:r>
              <a:rPr lang="it-IT" sz="1600">
                <a:latin typeface="Calibri"/>
                <a:ea typeface="+mn-lt"/>
                <a:cs typeface="+mn-lt"/>
              </a:rPr>
              <a:t> and Security (TIFS).</a:t>
            </a:r>
            <a:endParaRPr lang="it-IT" sz="1600">
              <a:latin typeface="Calibri"/>
              <a:ea typeface="Calibri"/>
              <a:cs typeface="Calibri"/>
            </a:endParaRPr>
          </a:p>
          <a:p>
            <a:endParaRPr lang="it-IT" sz="1600">
              <a:latin typeface="Calibri"/>
              <a:ea typeface="+mn-lt"/>
              <a:cs typeface="+mn-lt"/>
            </a:endParaRPr>
          </a:p>
          <a:p>
            <a:r>
              <a:rPr lang="it-IT" sz="1600">
                <a:latin typeface="Calibri"/>
                <a:ea typeface="+mn-lt"/>
                <a:cs typeface="+mn-lt"/>
              </a:rPr>
              <a:t>[2] Tan, M., &amp; Le, Q. V. (2019). </a:t>
            </a:r>
            <a:r>
              <a:rPr lang="it-IT" sz="1600" i="1" err="1">
                <a:latin typeface="Calibri"/>
                <a:ea typeface="+mn-lt"/>
                <a:cs typeface="+mn-lt"/>
              </a:rPr>
              <a:t>EfficientNet</a:t>
            </a:r>
            <a:r>
              <a:rPr lang="it-IT" sz="1600" i="1">
                <a:latin typeface="Calibri"/>
                <a:ea typeface="+mn-lt"/>
                <a:cs typeface="+mn-lt"/>
              </a:rPr>
              <a:t>: </a:t>
            </a:r>
            <a:r>
              <a:rPr lang="it-IT" sz="1600" i="1" err="1">
                <a:latin typeface="Calibri"/>
                <a:ea typeface="+mn-lt"/>
                <a:cs typeface="+mn-lt"/>
              </a:rPr>
              <a:t>Rethinking</a:t>
            </a:r>
            <a:r>
              <a:rPr lang="it-IT" sz="1600" i="1">
                <a:latin typeface="Calibri"/>
                <a:ea typeface="+mn-lt"/>
                <a:cs typeface="+mn-lt"/>
              </a:rPr>
              <a:t> Model Scaling for </a:t>
            </a:r>
            <a:r>
              <a:rPr lang="it-IT" sz="1600" i="1" err="1">
                <a:latin typeface="Calibri"/>
                <a:ea typeface="+mn-lt"/>
                <a:cs typeface="+mn-lt"/>
              </a:rPr>
              <a:t>Convolutional</a:t>
            </a:r>
            <a:r>
              <a:rPr lang="it-IT" sz="1600" i="1">
                <a:latin typeface="Calibri"/>
                <a:ea typeface="+mn-lt"/>
                <a:cs typeface="+mn-lt"/>
              </a:rPr>
              <a:t> </a:t>
            </a:r>
            <a:r>
              <a:rPr lang="it-IT" sz="1600" i="1" err="1">
                <a:latin typeface="Calibri"/>
                <a:ea typeface="+mn-lt"/>
                <a:cs typeface="+mn-lt"/>
              </a:rPr>
              <a:t>Neural</a:t>
            </a:r>
            <a:r>
              <a:rPr lang="it-IT" sz="1600" i="1">
                <a:latin typeface="Calibri"/>
                <a:ea typeface="+mn-lt"/>
                <a:cs typeface="+mn-lt"/>
              </a:rPr>
              <a:t> Networks</a:t>
            </a:r>
            <a:r>
              <a:rPr lang="it-IT" sz="1600">
                <a:latin typeface="Calibri"/>
                <a:ea typeface="+mn-lt"/>
                <a:cs typeface="+mn-lt"/>
              </a:rPr>
              <a:t>. In </a:t>
            </a:r>
            <a:r>
              <a:rPr lang="it-IT" sz="1600" i="1" err="1">
                <a:latin typeface="Calibri"/>
                <a:ea typeface="+mn-lt"/>
                <a:cs typeface="+mn-lt"/>
              </a:rPr>
              <a:t>Proceedings</a:t>
            </a:r>
            <a:r>
              <a:rPr lang="it-IT" sz="1600" i="1">
                <a:latin typeface="Calibri"/>
                <a:ea typeface="+mn-lt"/>
                <a:cs typeface="+mn-lt"/>
              </a:rPr>
              <a:t> of the 36th International Conference on Machine Learning (ICML)</a:t>
            </a:r>
            <a:r>
              <a:rPr lang="it-IT" sz="1600">
                <a:latin typeface="Calibri"/>
                <a:ea typeface="+mn-lt"/>
                <a:cs typeface="+mn-lt"/>
              </a:rPr>
              <a:t>.</a:t>
            </a:r>
            <a:endParaRPr lang="it-IT" sz="1600">
              <a:latin typeface="Calibri"/>
              <a:ea typeface="Calibri"/>
              <a:cs typeface="Calibri"/>
            </a:endParaRPr>
          </a:p>
          <a:p>
            <a:endParaRPr lang="it-IT" sz="1600">
              <a:latin typeface="Calibri"/>
              <a:ea typeface="+mn-lt"/>
              <a:cs typeface="+mn-lt"/>
            </a:endParaRPr>
          </a:p>
          <a:p>
            <a:r>
              <a:rPr lang="it-IT" sz="1600">
                <a:latin typeface="Calibri"/>
                <a:ea typeface="+mn-lt"/>
                <a:cs typeface="+mn-lt"/>
              </a:rPr>
              <a:t>[3] </a:t>
            </a:r>
            <a:r>
              <a:rPr lang="it-IT" sz="1600" err="1">
                <a:latin typeface="Calibri"/>
                <a:ea typeface="+mn-lt"/>
                <a:cs typeface="+mn-lt"/>
              </a:rPr>
              <a:t>Dang</a:t>
            </a:r>
            <a:r>
              <a:rPr lang="it-IT" sz="1600">
                <a:latin typeface="Calibri"/>
                <a:ea typeface="+mn-lt"/>
                <a:cs typeface="+mn-lt"/>
              </a:rPr>
              <a:t>, H., </a:t>
            </a:r>
            <a:r>
              <a:rPr lang="it-IT" sz="1600" err="1">
                <a:latin typeface="Calibri"/>
                <a:ea typeface="+mn-lt"/>
                <a:cs typeface="+mn-lt"/>
              </a:rPr>
              <a:t>Liu</a:t>
            </a:r>
            <a:r>
              <a:rPr lang="it-IT" sz="1600">
                <a:latin typeface="Calibri"/>
                <a:ea typeface="+mn-lt"/>
                <a:cs typeface="+mn-lt"/>
              </a:rPr>
              <a:t>, F., </a:t>
            </a:r>
            <a:r>
              <a:rPr lang="it-IT" sz="1600" err="1">
                <a:latin typeface="Calibri"/>
                <a:ea typeface="+mn-lt"/>
                <a:cs typeface="+mn-lt"/>
              </a:rPr>
              <a:t>Stehouwer</a:t>
            </a:r>
            <a:r>
              <a:rPr lang="it-IT" sz="1600">
                <a:latin typeface="Calibri"/>
                <a:ea typeface="+mn-lt"/>
                <a:cs typeface="+mn-lt"/>
              </a:rPr>
              <a:t>, J., </a:t>
            </a:r>
            <a:r>
              <a:rPr lang="it-IT" sz="1600" err="1">
                <a:latin typeface="Calibri"/>
                <a:ea typeface="+mn-lt"/>
                <a:cs typeface="+mn-lt"/>
              </a:rPr>
              <a:t>Liu</a:t>
            </a:r>
            <a:r>
              <a:rPr lang="it-IT" sz="1600">
                <a:latin typeface="Calibri"/>
                <a:ea typeface="+mn-lt"/>
                <a:cs typeface="+mn-lt"/>
              </a:rPr>
              <a:t>, X., &amp; Jain, A. K. (2020). </a:t>
            </a:r>
            <a:r>
              <a:rPr lang="it-IT" sz="1600" i="1">
                <a:latin typeface="Calibri"/>
                <a:ea typeface="+mn-lt"/>
                <a:cs typeface="+mn-lt"/>
              </a:rPr>
              <a:t>On the </a:t>
            </a:r>
            <a:r>
              <a:rPr lang="it-IT" sz="1600" i="1" err="1">
                <a:latin typeface="Calibri"/>
                <a:ea typeface="+mn-lt"/>
                <a:cs typeface="+mn-lt"/>
              </a:rPr>
              <a:t>Detection</a:t>
            </a:r>
            <a:r>
              <a:rPr lang="it-IT" sz="1600" i="1">
                <a:latin typeface="Calibri"/>
                <a:ea typeface="+mn-lt"/>
                <a:cs typeface="+mn-lt"/>
              </a:rPr>
              <a:t> of Digital Face </a:t>
            </a:r>
            <a:r>
              <a:rPr lang="it-IT" sz="1600" i="1" err="1">
                <a:latin typeface="Calibri"/>
                <a:ea typeface="+mn-lt"/>
                <a:cs typeface="+mn-lt"/>
              </a:rPr>
              <a:t>Manipulation</a:t>
            </a:r>
            <a:r>
              <a:rPr lang="it-IT" sz="1600">
                <a:latin typeface="Calibri"/>
                <a:ea typeface="+mn-lt"/>
                <a:cs typeface="+mn-lt"/>
              </a:rPr>
              <a:t>. In </a:t>
            </a:r>
            <a:r>
              <a:rPr lang="it-IT" sz="1600" i="1" err="1">
                <a:latin typeface="Calibri"/>
                <a:ea typeface="+mn-lt"/>
                <a:cs typeface="+mn-lt"/>
              </a:rPr>
              <a:t>Proceedings</a:t>
            </a:r>
            <a:r>
              <a:rPr lang="it-IT" sz="1600" i="1">
                <a:latin typeface="Calibri"/>
                <a:ea typeface="+mn-lt"/>
                <a:cs typeface="+mn-lt"/>
              </a:rPr>
              <a:t> of the IEEE/CVF Conference on Computer Vision and Pattern </a:t>
            </a:r>
            <a:r>
              <a:rPr lang="it-IT" sz="1600" i="1" err="1">
                <a:latin typeface="Calibri"/>
                <a:ea typeface="+mn-lt"/>
                <a:cs typeface="+mn-lt"/>
              </a:rPr>
              <a:t>Recognition</a:t>
            </a:r>
            <a:r>
              <a:rPr lang="it-IT" sz="1600" i="1">
                <a:latin typeface="Calibri"/>
                <a:ea typeface="+mn-lt"/>
                <a:cs typeface="+mn-lt"/>
              </a:rPr>
              <a:t> (CVPR)</a:t>
            </a:r>
            <a:r>
              <a:rPr lang="it-IT" sz="1600">
                <a:latin typeface="Calibri"/>
                <a:ea typeface="+mn-lt"/>
                <a:cs typeface="+mn-lt"/>
              </a:rPr>
              <a:t>.</a:t>
            </a:r>
            <a:endParaRPr lang="it-IT" sz="1600">
              <a:latin typeface="Calibri"/>
              <a:ea typeface="Calibri"/>
              <a:cs typeface="Calibri"/>
            </a:endParaRPr>
          </a:p>
          <a:p>
            <a:r>
              <a:rPr lang="it-IT" sz="1600">
                <a:latin typeface="Calibri"/>
                <a:ea typeface="+mn-lt"/>
                <a:cs typeface="+mn-lt"/>
              </a:rPr>
              <a:t>[4] Abbasi, M., Kumar, A., &amp; Singh, R. (2025). </a:t>
            </a:r>
            <a:r>
              <a:rPr lang="it-IT" sz="1600" i="1">
                <a:latin typeface="Calibri"/>
                <a:ea typeface="+mn-lt"/>
                <a:cs typeface="+mn-lt"/>
              </a:rPr>
              <a:t>Comprehensive Evaluation of Deepfake </a:t>
            </a:r>
            <a:r>
              <a:rPr lang="it-IT" sz="1600" i="1" err="1">
                <a:latin typeface="Calibri"/>
                <a:ea typeface="+mn-lt"/>
                <a:cs typeface="+mn-lt"/>
              </a:rPr>
              <a:t>Detection</a:t>
            </a:r>
            <a:r>
              <a:rPr lang="it-IT" sz="1600" i="1">
                <a:latin typeface="Calibri"/>
                <a:ea typeface="+mn-lt"/>
                <a:cs typeface="+mn-lt"/>
              </a:rPr>
              <a:t> Models</a:t>
            </a:r>
            <a:r>
              <a:rPr lang="it-IT" sz="1600">
                <a:latin typeface="Calibri"/>
                <a:ea typeface="+mn-lt"/>
                <a:cs typeface="+mn-lt"/>
              </a:rPr>
              <a:t>. </a:t>
            </a:r>
            <a:r>
              <a:rPr lang="it-IT" sz="1600" i="1">
                <a:latin typeface="Calibri"/>
                <a:ea typeface="+mn-lt"/>
                <a:cs typeface="+mn-lt"/>
              </a:rPr>
              <a:t>Applied Sciences</a:t>
            </a:r>
            <a:r>
              <a:rPr lang="it-IT" sz="1600">
                <a:latin typeface="Calibri"/>
                <a:ea typeface="+mn-lt"/>
                <a:cs typeface="+mn-lt"/>
              </a:rPr>
              <a:t>.</a:t>
            </a:r>
          </a:p>
          <a:p>
            <a:endParaRPr lang="it-IT" sz="1600">
              <a:latin typeface="Calibri"/>
              <a:ea typeface="+mn-lt"/>
              <a:cs typeface="+mn-lt"/>
            </a:endParaRPr>
          </a:p>
          <a:p>
            <a:r>
              <a:rPr lang="it-IT" sz="1600">
                <a:latin typeface="Calibri"/>
                <a:ea typeface="+mn-lt"/>
                <a:cs typeface="+mn-lt"/>
              </a:rPr>
              <a:t>[5] </a:t>
            </a:r>
            <a:r>
              <a:rPr lang="it-IT" sz="1600" err="1">
                <a:latin typeface="Calibri"/>
                <a:ea typeface="+mn-lt"/>
                <a:cs typeface="+mn-lt"/>
              </a:rPr>
              <a:t>Goodfellow</a:t>
            </a:r>
            <a:r>
              <a:rPr lang="it-IT" sz="1600">
                <a:latin typeface="Calibri"/>
                <a:ea typeface="+mn-lt"/>
                <a:cs typeface="+mn-lt"/>
              </a:rPr>
              <a:t>, I. J., </a:t>
            </a:r>
            <a:r>
              <a:rPr lang="it-IT" sz="1600" err="1">
                <a:latin typeface="Calibri"/>
                <a:ea typeface="+mn-lt"/>
                <a:cs typeface="+mn-lt"/>
              </a:rPr>
              <a:t>Shlens</a:t>
            </a:r>
            <a:r>
              <a:rPr lang="it-IT" sz="1600">
                <a:latin typeface="Calibri"/>
                <a:ea typeface="+mn-lt"/>
                <a:cs typeface="+mn-lt"/>
              </a:rPr>
              <a:t>, J., &amp; </a:t>
            </a:r>
            <a:r>
              <a:rPr lang="it-IT" sz="1600" err="1">
                <a:latin typeface="Calibri"/>
                <a:ea typeface="+mn-lt"/>
                <a:cs typeface="+mn-lt"/>
              </a:rPr>
              <a:t>Szegedy</a:t>
            </a:r>
            <a:r>
              <a:rPr lang="it-IT" sz="1600">
                <a:latin typeface="Calibri"/>
                <a:ea typeface="+mn-lt"/>
                <a:cs typeface="+mn-lt"/>
              </a:rPr>
              <a:t>, C. (2015). </a:t>
            </a:r>
            <a:r>
              <a:rPr lang="it-IT" sz="1600" i="1" err="1">
                <a:latin typeface="Calibri"/>
                <a:ea typeface="+mn-lt"/>
                <a:cs typeface="+mn-lt"/>
              </a:rPr>
              <a:t>Explaining</a:t>
            </a:r>
            <a:r>
              <a:rPr lang="it-IT" sz="1600" i="1">
                <a:latin typeface="Calibri"/>
                <a:ea typeface="+mn-lt"/>
                <a:cs typeface="+mn-lt"/>
              </a:rPr>
              <a:t> and </a:t>
            </a:r>
            <a:r>
              <a:rPr lang="it-IT" sz="1600" i="1" err="1">
                <a:latin typeface="Calibri"/>
                <a:ea typeface="+mn-lt"/>
                <a:cs typeface="+mn-lt"/>
              </a:rPr>
              <a:t>Harnessing</a:t>
            </a:r>
            <a:r>
              <a:rPr lang="it-IT" sz="1600" i="1">
                <a:latin typeface="Calibri"/>
                <a:ea typeface="+mn-lt"/>
                <a:cs typeface="+mn-lt"/>
              </a:rPr>
              <a:t> </a:t>
            </a:r>
            <a:r>
              <a:rPr lang="it-IT" sz="1600" i="1" err="1">
                <a:latin typeface="Calibri"/>
                <a:ea typeface="+mn-lt"/>
                <a:cs typeface="+mn-lt"/>
              </a:rPr>
              <a:t>Adversarial</a:t>
            </a:r>
            <a:r>
              <a:rPr lang="it-IT" sz="1600" i="1">
                <a:latin typeface="Calibri"/>
                <a:ea typeface="+mn-lt"/>
                <a:cs typeface="+mn-lt"/>
              </a:rPr>
              <a:t> </a:t>
            </a:r>
            <a:r>
              <a:rPr lang="it-IT" sz="1600" i="1" err="1">
                <a:latin typeface="Calibri"/>
                <a:ea typeface="+mn-lt"/>
                <a:cs typeface="+mn-lt"/>
              </a:rPr>
              <a:t>Examples</a:t>
            </a:r>
            <a:r>
              <a:rPr lang="it-IT" sz="1600">
                <a:latin typeface="Calibri"/>
                <a:ea typeface="+mn-lt"/>
                <a:cs typeface="+mn-lt"/>
              </a:rPr>
              <a:t>. In </a:t>
            </a:r>
            <a:r>
              <a:rPr lang="it-IT" sz="1600" i="1">
                <a:latin typeface="Calibri"/>
                <a:ea typeface="+mn-lt"/>
                <a:cs typeface="+mn-lt"/>
              </a:rPr>
              <a:t>International Conference on Learning </a:t>
            </a:r>
            <a:r>
              <a:rPr lang="it-IT" sz="1600" i="1" err="1">
                <a:latin typeface="Calibri"/>
                <a:ea typeface="+mn-lt"/>
                <a:cs typeface="+mn-lt"/>
              </a:rPr>
              <a:t>Representations</a:t>
            </a:r>
            <a:r>
              <a:rPr lang="it-IT" sz="1600" i="1">
                <a:latin typeface="Calibri"/>
                <a:ea typeface="+mn-lt"/>
                <a:cs typeface="+mn-lt"/>
              </a:rPr>
              <a:t> (ICLR)</a:t>
            </a:r>
            <a:r>
              <a:rPr lang="it-IT" sz="1600">
                <a:latin typeface="Calibri"/>
                <a:ea typeface="+mn-lt"/>
                <a:cs typeface="+mn-lt"/>
              </a:rPr>
              <a:t>.</a:t>
            </a:r>
            <a:endParaRPr lang="it-IT" sz="1600">
              <a:latin typeface="Calibri"/>
              <a:ea typeface="Calibri"/>
              <a:cs typeface="Calibri"/>
            </a:endParaRPr>
          </a:p>
          <a:p>
            <a:endParaRPr lang="it-IT" sz="1600">
              <a:latin typeface="Calibri"/>
              <a:ea typeface="+mn-lt"/>
              <a:cs typeface="+mn-lt"/>
            </a:endParaRPr>
          </a:p>
          <a:p>
            <a:r>
              <a:rPr lang="it-IT" sz="1600">
                <a:latin typeface="Calibri"/>
                <a:ea typeface="+mn-lt"/>
                <a:cs typeface="+mn-lt"/>
              </a:rPr>
              <a:t>[6] </a:t>
            </a:r>
            <a:r>
              <a:rPr lang="it-IT" sz="1600" err="1">
                <a:latin typeface="Calibri"/>
                <a:ea typeface="+mn-lt"/>
                <a:cs typeface="+mn-lt"/>
              </a:rPr>
              <a:t>Madry</a:t>
            </a:r>
            <a:r>
              <a:rPr lang="it-IT" sz="1600">
                <a:latin typeface="Calibri"/>
                <a:ea typeface="+mn-lt"/>
                <a:cs typeface="+mn-lt"/>
              </a:rPr>
              <a:t>, A., </a:t>
            </a:r>
            <a:r>
              <a:rPr lang="it-IT" sz="1600" err="1">
                <a:latin typeface="Calibri"/>
                <a:ea typeface="+mn-lt"/>
                <a:cs typeface="+mn-lt"/>
              </a:rPr>
              <a:t>Makelov</a:t>
            </a:r>
            <a:r>
              <a:rPr lang="it-IT" sz="1600">
                <a:latin typeface="Calibri"/>
                <a:ea typeface="+mn-lt"/>
                <a:cs typeface="+mn-lt"/>
              </a:rPr>
              <a:t>, A., Schmidt, L., Tsipras, D., &amp; </a:t>
            </a:r>
            <a:r>
              <a:rPr lang="it-IT" sz="1600" err="1">
                <a:latin typeface="Calibri"/>
                <a:ea typeface="+mn-lt"/>
                <a:cs typeface="+mn-lt"/>
              </a:rPr>
              <a:t>Vladu</a:t>
            </a:r>
            <a:r>
              <a:rPr lang="it-IT" sz="1600">
                <a:latin typeface="Calibri"/>
                <a:ea typeface="+mn-lt"/>
                <a:cs typeface="+mn-lt"/>
              </a:rPr>
              <a:t>, A. (2018). </a:t>
            </a:r>
            <a:r>
              <a:rPr lang="it-IT" sz="1600" i="1" err="1">
                <a:latin typeface="Calibri"/>
                <a:ea typeface="+mn-lt"/>
                <a:cs typeface="+mn-lt"/>
              </a:rPr>
              <a:t>Towards</a:t>
            </a:r>
            <a:r>
              <a:rPr lang="it-IT" sz="1600" i="1">
                <a:latin typeface="Calibri"/>
                <a:ea typeface="+mn-lt"/>
                <a:cs typeface="+mn-lt"/>
              </a:rPr>
              <a:t> Deep Learning Models </a:t>
            </a:r>
            <a:r>
              <a:rPr lang="it-IT" sz="1600" i="1" err="1">
                <a:latin typeface="Calibri"/>
                <a:ea typeface="+mn-lt"/>
                <a:cs typeface="+mn-lt"/>
              </a:rPr>
              <a:t>Resistant</a:t>
            </a:r>
            <a:r>
              <a:rPr lang="it-IT" sz="1600" i="1">
                <a:latin typeface="Calibri"/>
                <a:ea typeface="+mn-lt"/>
                <a:cs typeface="+mn-lt"/>
              </a:rPr>
              <a:t> to </a:t>
            </a:r>
            <a:r>
              <a:rPr lang="it-IT" sz="1600" i="1" err="1">
                <a:latin typeface="Calibri"/>
                <a:ea typeface="+mn-lt"/>
                <a:cs typeface="+mn-lt"/>
              </a:rPr>
              <a:t>Adversarial</a:t>
            </a:r>
            <a:r>
              <a:rPr lang="it-IT" sz="1600" i="1">
                <a:latin typeface="Calibri"/>
                <a:ea typeface="+mn-lt"/>
                <a:cs typeface="+mn-lt"/>
              </a:rPr>
              <a:t> Attacks</a:t>
            </a:r>
            <a:r>
              <a:rPr lang="it-IT" sz="1600">
                <a:latin typeface="Calibri"/>
                <a:ea typeface="+mn-lt"/>
                <a:cs typeface="+mn-lt"/>
              </a:rPr>
              <a:t>. In </a:t>
            </a:r>
            <a:r>
              <a:rPr lang="it-IT" sz="1600" i="1">
                <a:latin typeface="Calibri"/>
                <a:ea typeface="+mn-lt"/>
                <a:cs typeface="+mn-lt"/>
              </a:rPr>
              <a:t>International Conference on Learning </a:t>
            </a:r>
            <a:r>
              <a:rPr lang="it-IT" sz="1600" i="1" err="1">
                <a:latin typeface="Calibri"/>
                <a:ea typeface="+mn-lt"/>
                <a:cs typeface="+mn-lt"/>
              </a:rPr>
              <a:t>Representations</a:t>
            </a:r>
            <a:r>
              <a:rPr lang="it-IT" sz="1600" i="1">
                <a:latin typeface="Calibri"/>
                <a:ea typeface="+mn-lt"/>
                <a:cs typeface="+mn-lt"/>
              </a:rPr>
              <a:t> (ICLR)</a:t>
            </a:r>
            <a:r>
              <a:rPr lang="it-IT" sz="1600">
                <a:latin typeface="Calibri"/>
                <a:ea typeface="+mn-lt"/>
                <a:cs typeface="+mn-lt"/>
              </a:rPr>
              <a:t>.</a:t>
            </a:r>
            <a:endParaRPr lang="it-IT" sz="1600">
              <a:latin typeface="Calibri"/>
              <a:ea typeface="Calibri"/>
              <a:cs typeface="Calibri"/>
            </a:endParaRPr>
          </a:p>
          <a:p>
            <a:endParaRPr lang="it-IT" sz="1600">
              <a:latin typeface="Calibri"/>
              <a:ea typeface="+mn-lt"/>
              <a:cs typeface="+mn-lt"/>
            </a:endParaRPr>
          </a:p>
          <a:p>
            <a:r>
              <a:rPr lang="it-IT" sz="1600">
                <a:latin typeface="Calibri"/>
                <a:ea typeface="+mn-lt"/>
                <a:cs typeface="+mn-lt"/>
              </a:rPr>
              <a:t>[7] </a:t>
            </a:r>
            <a:r>
              <a:rPr lang="it-IT" sz="1600" err="1">
                <a:latin typeface="Calibri"/>
                <a:ea typeface="+mn-lt"/>
                <a:cs typeface="+mn-lt"/>
              </a:rPr>
              <a:t>Moosavi-Dezfooli</a:t>
            </a:r>
            <a:r>
              <a:rPr lang="it-IT" sz="1600">
                <a:latin typeface="Calibri"/>
                <a:ea typeface="+mn-lt"/>
                <a:cs typeface="+mn-lt"/>
              </a:rPr>
              <a:t>, S.-M., Fawzi, A., &amp; </a:t>
            </a:r>
            <a:r>
              <a:rPr lang="it-IT" sz="1600" err="1">
                <a:latin typeface="Calibri"/>
                <a:ea typeface="+mn-lt"/>
                <a:cs typeface="+mn-lt"/>
              </a:rPr>
              <a:t>Frossard</a:t>
            </a:r>
            <a:r>
              <a:rPr lang="it-IT" sz="1600">
                <a:latin typeface="Calibri"/>
                <a:ea typeface="+mn-lt"/>
                <a:cs typeface="+mn-lt"/>
              </a:rPr>
              <a:t>, P. (2016). </a:t>
            </a:r>
            <a:r>
              <a:rPr lang="it-IT" sz="1600" i="1" err="1">
                <a:latin typeface="Calibri"/>
                <a:ea typeface="+mn-lt"/>
                <a:cs typeface="+mn-lt"/>
              </a:rPr>
              <a:t>DeepFool</a:t>
            </a:r>
            <a:r>
              <a:rPr lang="it-IT" sz="1600" i="1">
                <a:latin typeface="Calibri"/>
                <a:ea typeface="+mn-lt"/>
                <a:cs typeface="+mn-lt"/>
              </a:rPr>
              <a:t>: A Simple and Accurate Method to </a:t>
            </a:r>
            <a:r>
              <a:rPr lang="it-IT" sz="1600" i="1" err="1">
                <a:latin typeface="Calibri"/>
                <a:ea typeface="+mn-lt"/>
                <a:cs typeface="+mn-lt"/>
              </a:rPr>
              <a:t>Fool</a:t>
            </a:r>
            <a:r>
              <a:rPr lang="it-IT" sz="1600" i="1">
                <a:latin typeface="Calibri"/>
                <a:ea typeface="+mn-lt"/>
                <a:cs typeface="+mn-lt"/>
              </a:rPr>
              <a:t> Deep </a:t>
            </a:r>
            <a:r>
              <a:rPr lang="it-IT" sz="1600" i="1" err="1">
                <a:latin typeface="Calibri"/>
                <a:ea typeface="+mn-lt"/>
                <a:cs typeface="+mn-lt"/>
              </a:rPr>
              <a:t>Neural</a:t>
            </a:r>
            <a:r>
              <a:rPr lang="it-IT" sz="1600" i="1">
                <a:latin typeface="Calibri"/>
                <a:ea typeface="+mn-lt"/>
                <a:cs typeface="+mn-lt"/>
              </a:rPr>
              <a:t> Networks</a:t>
            </a:r>
            <a:r>
              <a:rPr lang="it-IT" sz="1600">
                <a:latin typeface="Calibri"/>
                <a:ea typeface="+mn-lt"/>
                <a:cs typeface="+mn-lt"/>
              </a:rPr>
              <a:t>. In </a:t>
            </a:r>
            <a:r>
              <a:rPr lang="it-IT" sz="1600" i="1" err="1">
                <a:latin typeface="Calibri"/>
                <a:ea typeface="+mn-lt"/>
                <a:cs typeface="+mn-lt"/>
              </a:rPr>
              <a:t>Proceedings</a:t>
            </a:r>
            <a:r>
              <a:rPr lang="it-IT" sz="1600" i="1">
                <a:latin typeface="Calibri"/>
                <a:ea typeface="+mn-lt"/>
                <a:cs typeface="+mn-lt"/>
              </a:rPr>
              <a:t> of the IEEE Conference on Computer Vision and Pattern </a:t>
            </a:r>
            <a:r>
              <a:rPr lang="it-IT" sz="1600" i="1" err="1">
                <a:latin typeface="Calibri"/>
                <a:ea typeface="+mn-lt"/>
                <a:cs typeface="+mn-lt"/>
              </a:rPr>
              <a:t>Recognition</a:t>
            </a:r>
            <a:r>
              <a:rPr lang="it-IT" sz="1600" i="1">
                <a:latin typeface="Calibri"/>
                <a:ea typeface="+mn-lt"/>
                <a:cs typeface="+mn-lt"/>
              </a:rPr>
              <a:t> (CVPR)</a:t>
            </a:r>
            <a:r>
              <a:rPr lang="it-IT" sz="1600">
                <a:latin typeface="Calibri"/>
                <a:ea typeface="+mn-lt"/>
                <a:cs typeface="+mn-lt"/>
              </a:rPr>
              <a:t>.</a:t>
            </a:r>
            <a:endParaRPr lang="it-IT" sz="1600">
              <a:latin typeface="Calibri"/>
            </a:endParaRPr>
          </a:p>
          <a:p>
            <a:pPr algn="l"/>
            <a:endParaRPr lang="it-IT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7432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973</Words>
  <Application>Microsoft Office PowerPoint</Application>
  <PresentationFormat>Widescreen</PresentationFormat>
  <Paragraphs>106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Hind</vt:lpstr>
      <vt:lpstr>Montserrat Medium</vt:lpstr>
      <vt:lpstr>Montserrat SemiBold</vt:lpstr>
      <vt:lpstr>Retrospettivo</vt:lpstr>
      <vt:lpstr>Improving Generalization of Deepfake Detectors by Imposing Gradient Regularization</vt:lpstr>
      <vt:lpstr>Outline</vt:lpstr>
      <vt:lpstr>Presentazione standard di PowerPoint</vt:lpstr>
      <vt:lpstr>Why is Detection important?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barbetta</dc:creator>
  <cp:lastModifiedBy>ANGIULI ANTONELLA</cp:lastModifiedBy>
  <cp:revision>195</cp:revision>
  <dcterms:created xsi:type="dcterms:W3CDTF">2025-06-12T14:57:19Z</dcterms:created>
  <dcterms:modified xsi:type="dcterms:W3CDTF">2025-06-15T17:13:09Z</dcterms:modified>
</cp:coreProperties>
</file>